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 Evolution" id="{f7fe77bb-6505-f9ed-5a66-b79533b8f497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02 Characteristics" id="{53ad2850-1155-9e3a-44c0-203cf17d4e8b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03 Richardson Maturity Model" id="{51a447f4-40b2-c781-0225-b9a1cc1ea46c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04 HTTP methods and status codes" id="{d87a3f42-d2e1-6c52-b794-0a248ca8938c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05 HTTP headers" id="{fdb4e932-9580-9fa0-a280-e8da3c04d03b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06 Design best practices" id="{355dbe8e-0741-c79e-cba6-07fdc867dd65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07 Versioning and deprecation" id="{8a24832c-5d93-c3b0-4538-dfcf12d3dc7c}">
          <p14:sldIdLst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08 Tooling and wrap-up" id="{fb25c937-d58d-e808-d9ee-8d61f6a9e63f}">
          <p14:sldIdLst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comprehensive tour of REST: where it came from, what it actually requires, how HTTP methods, status codes and headers are used in practice, and how to design, secure, document and evolve an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contrast with REST: RPC styles expose operations (getCustomer, createOrder), while REST exposes resources and uses HTTP's own semantics.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Fielding co-authored the HTTP/1.1 specification while developing REST; REST is, in effect, a description of why the Web scaled.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trend is consolidation: HTTP semantics are now stable and well specified, and the surrounding ecosystem (OpenAPI, problem details, deprecation signalling) has caught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SOAP is not obsolete everywhere: banking, telecom and government integrations still use it where WS-* features and formal contracts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code on demand is optional. Each constraint trades something (for example, efficiency or simplicity) for a desirable property such as scalability, evolvability or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Uniformity is what lets generic intermediaries (caches, proxies, browsers, gateways) work with any API without knowing its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 are domain concepts, not database tables. One resource may span several tables, and a table may be exposed as several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level adds one of the Web's core ideas: resources, verbs, hypermedia. Fowler's article uses a doctor's appointment booking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is universally adopted. Many teams use plain JSON with a small, documented link convention (for example next/prev pagination links) as a pragmatic middle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 implies idempotent, but not the reverse. Idempotency describes the intended effect on server state, not the response: a second DELETE may return 404 and still be idempotent.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perform state changes on GET. Crawlers, link prefetchers and caches assume GET is safe and will happily trigger a GET /orders/42/delete.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useful rule: 4xx means the caller must change something; 5xx means the provider has a problem. Alerting and SLOs are typically built on the 5xx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these with timeouts, circuit breakers and bulkheads in the services behind the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prefer Cache-Control plus ETag. Remember that no-cache does not mean do not cache: it means revalidate before reuse. no-store is the directive that forbids storing.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202 response should tell the client how to monitor the operation. Do not simply hold the connection open for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complements, not rivals: many systems expose REST publicly, use gRPC between internal services and events for asynchronous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REST APIs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08960"/>
            <a:ext cx="8686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REST APIs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089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Evolution, constraints, the Richardson Maturity Model, HTTP semantics, design best practices and versioning</a:t>
            </a:r>
            <a:endParaRPr lang="en-US" sz="2400" dirty="0"/>
          </a:p>
        </p:txBody>
      </p:sp>
      <p:sp>
        <p:nvSpPr>
          <p:cNvPr id="4" name="Pill GET"/>
          <p:cNvSpPr/>
          <p:nvPr/>
        </p:nvSpPr>
        <p:spPr>
          <a:xfrm>
            <a:off x="822960" y="502920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" name="Pill text GET"/>
          <p:cNvSpPr txBox="1"/>
          <p:nvPr/>
        </p:nvSpPr>
        <p:spPr>
          <a:xfrm>
            <a:off x="822960" y="5029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GET</a:t>
            </a:r>
            <a:endParaRPr lang="en-US" sz="1600" dirty="0"/>
          </a:p>
        </p:txBody>
      </p:sp>
      <p:sp>
        <p:nvSpPr>
          <p:cNvPr id="6" name="Pill POST"/>
          <p:cNvSpPr/>
          <p:nvPr/>
        </p:nvSpPr>
        <p:spPr>
          <a:xfrm>
            <a:off x="2331720" y="502920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7" name="Pill text POST"/>
          <p:cNvSpPr txBox="1"/>
          <p:nvPr/>
        </p:nvSpPr>
        <p:spPr>
          <a:xfrm>
            <a:off x="2331720" y="5029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</a:t>
            </a:r>
            <a:endParaRPr lang="en-US" sz="1600" dirty="0"/>
          </a:p>
        </p:txBody>
      </p:sp>
      <p:sp>
        <p:nvSpPr>
          <p:cNvPr id="8" name="Pill PUT"/>
          <p:cNvSpPr/>
          <p:nvPr/>
        </p:nvSpPr>
        <p:spPr>
          <a:xfrm>
            <a:off x="3840480" y="502920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Pill text PUT"/>
          <p:cNvSpPr txBox="1"/>
          <p:nvPr/>
        </p:nvSpPr>
        <p:spPr>
          <a:xfrm>
            <a:off x="3840480" y="5029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PUT</a:t>
            </a:r>
            <a:endParaRPr lang="en-US" sz="1600" dirty="0"/>
          </a:p>
        </p:txBody>
      </p:sp>
      <p:sp>
        <p:nvSpPr>
          <p:cNvPr id="10" name="Pill PATCH"/>
          <p:cNvSpPr/>
          <p:nvPr/>
        </p:nvSpPr>
        <p:spPr>
          <a:xfrm>
            <a:off x="5349240" y="502920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Pill text PATCH"/>
          <p:cNvSpPr txBox="1"/>
          <p:nvPr/>
        </p:nvSpPr>
        <p:spPr>
          <a:xfrm>
            <a:off x="5349240" y="5029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PATCH</a:t>
            </a:r>
            <a:endParaRPr lang="en-US" sz="1600" dirty="0"/>
          </a:p>
        </p:txBody>
      </p:sp>
      <p:sp>
        <p:nvSpPr>
          <p:cNvPr id="12" name="Pill DELETE"/>
          <p:cNvSpPr/>
          <p:nvPr/>
        </p:nvSpPr>
        <p:spPr>
          <a:xfrm>
            <a:off x="6858000" y="502920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3" name="Pill text DELETE"/>
          <p:cNvSpPr txBox="1"/>
          <p:nvPr/>
        </p:nvSpPr>
        <p:spPr>
          <a:xfrm>
            <a:off x="6858000" y="5029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DELETE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Agenda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4" name="Number"/>
          <p:cNvSpPr/>
          <p:nvPr/>
        </p:nvSpPr>
        <p:spPr>
          <a:xfrm>
            <a:off x="768096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ber text"/>
          <p:cNvSpPr txBox="1"/>
          <p:nvPr/>
        </p:nvSpPr>
        <p:spPr>
          <a:xfrm>
            <a:off x="76809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ard text 1"/>
          <p:cNvSpPr txBox="1"/>
          <p:nvPr/>
        </p:nvSpPr>
        <p:spPr>
          <a:xfrm>
            <a:off x="768096" y="2194560"/>
            <a:ext cx="218313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Evolution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RPC, SOAP, Fielding's dissertation, Web APIs, OpenAPI</a:t>
            </a:r>
            <a:endParaRPr lang="en-US" sz="1800" dirty="0"/>
          </a:p>
        </p:txBody>
      </p:sp>
      <p:sp>
        <p:nvSpPr>
          <p:cNvPr id="7" name="Card 2"/>
          <p:cNvSpPr/>
          <p:nvPr/>
        </p:nvSpPr>
        <p:spPr>
          <a:xfrm>
            <a:off x="337185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8" name="Number"/>
          <p:cNvSpPr/>
          <p:nvPr/>
        </p:nvSpPr>
        <p:spPr>
          <a:xfrm>
            <a:off x="3591306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Number text"/>
          <p:cNvSpPr txBox="1"/>
          <p:nvPr/>
        </p:nvSpPr>
        <p:spPr>
          <a:xfrm>
            <a:off x="359130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Card text 2"/>
          <p:cNvSpPr txBox="1"/>
          <p:nvPr/>
        </p:nvSpPr>
        <p:spPr>
          <a:xfrm>
            <a:off x="3591306" y="2194560"/>
            <a:ext cx="218313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Characteristics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six constraints, resources, representations, URIs</a:t>
            </a:r>
            <a:endParaRPr lang="en-US" sz="1800" dirty="0"/>
          </a:p>
        </p:txBody>
      </p:sp>
      <p:sp>
        <p:nvSpPr>
          <p:cNvPr id="11" name="Card 3"/>
          <p:cNvSpPr/>
          <p:nvPr/>
        </p:nvSpPr>
        <p:spPr>
          <a:xfrm>
            <a:off x="619506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2" name="Number"/>
          <p:cNvSpPr/>
          <p:nvPr/>
        </p:nvSpPr>
        <p:spPr>
          <a:xfrm>
            <a:off x="6414516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ber text"/>
          <p:cNvSpPr txBox="1"/>
          <p:nvPr/>
        </p:nvSpPr>
        <p:spPr>
          <a:xfrm>
            <a:off x="641451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Card text 3"/>
          <p:cNvSpPr txBox="1"/>
          <p:nvPr/>
        </p:nvSpPr>
        <p:spPr>
          <a:xfrm>
            <a:off x="6414516" y="2194560"/>
            <a:ext cx="218313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Richardson Maturity Model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Levels 0 to 3, HATEOAS, hypermedia formats</a:t>
            </a:r>
            <a:endParaRPr lang="en-US" sz="1800" dirty="0"/>
          </a:p>
        </p:txBody>
      </p:sp>
      <p:sp>
        <p:nvSpPr>
          <p:cNvPr id="15" name="Card 4"/>
          <p:cNvSpPr/>
          <p:nvPr/>
        </p:nvSpPr>
        <p:spPr>
          <a:xfrm>
            <a:off x="901827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6" name="Number"/>
          <p:cNvSpPr/>
          <p:nvPr/>
        </p:nvSpPr>
        <p:spPr>
          <a:xfrm>
            <a:off x="9237726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umber text"/>
          <p:cNvSpPr txBox="1"/>
          <p:nvPr/>
        </p:nvSpPr>
        <p:spPr>
          <a:xfrm>
            <a:off x="923772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Card text 4"/>
          <p:cNvSpPr txBox="1"/>
          <p:nvPr/>
        </p:nvSpPr>
        <p:spPr>
          <a:xfrm>
            <a:off x="9237726" y="2194560"/>
            <a:ext cx="218313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HTTP methods &amp; status codes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Safe, idempotent, cacheable; the codes that matter</a:t>
            </a:r>
            <a:endParaRPr lang="en-US" sz="1800" dirty="0"/>
          </a:p>
        </p:txBody>
      </p:sp>
      <p:sp>
        <p:nvSpPr>
          <p:cNvPr id="19" name="Card 5"/>
          <p:cNvSpPr/>
          <p:nvPr/>
        </p:nvSpPr>
        <p:spPr>
          <a:xfrm>
            <a:off x="54864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0" name="Number"/>
          <p:cNvSpPr/>
          <p:nvPr/>
        </p:nvSpPr>
        <p:spPr>
          <a:xfrm>
            <a:off x="768096" y="4169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umber text"/>
          <p:cNvSpPr txBox="1"/>
          <p:nvPr/>
        </p:nvSpPr>
        <p:spPr>
          <a:xfrm>
            <a:off x="768096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Card text 5"/>
          <p:cNvSpPr txBox="1"/>
          <p:nvPr/>
        </p:nvSpPr>
        <p:spPr>
          <a:xfrm>
            <a:off x="768096" y="4672584"/>
            <a:ext cx="218313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HTTP headers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Negotiation, caching, conditional requests, security</a:t>
            </a:r>
            <a:endParaRPr lang="en-US" sz="1800" dirty="0"/>
          </a:p>
        </p:txBody>
      </p:sp>
      <p:sp>
        <p:nvSpPr>
          <p:cNvPr id="23" name="Card 6"/>
          <p:cNvSpPr/>
          <p:nvPr/>
        </p:nvSpPr>
        <p:spPr>
          <a:xfrm>
            <a:off x="337185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4" name="Number"/>
          <p:cNvSpPr/>
          <p:nvPr/>
        </p:nvSpPr>
        <p:spPr>
          <a:xfrm>
            <a:off x="3591306" y="4169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Number text"/>
          <p:cNvSpPr txBox="1"/>
          <p:nvPr/>
        </p:nvSpPr>
        <p:spPr>
          <a:xfrm>
            <a:off x="3591306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Card text 6"/>
          <p:cNvSpPr txBox="1"/>
          <p:nvPr/>
        </p:nvSpPr>
        <p:spPr>
          <a:xfrm>
            <a:off x="3591306" y="4672584"/>
            <a:ext cx="218313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Design best practices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URIs, pagination, errors, security, performance</a:t>
            </a:r>
            <a:endParaRPr lang="en-US" sz="1800" dirty="0"/>
          </a:p>
        </p:txBody>
      </p:sp>
      <p:sp>
        <p:nvSpPr>
          <p:cNvPr id="27" name="Card 7"/>
          <p:cNvSpPr/>
          <p:nvPr/>
        </p:nvSpPr>
        <p:spPr>
          <a:xfrm>
            <a:off x="619506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8" name="Number"/>
          <p:cNvSpPr/>
          <p:nvPr/>
        </p:nvSpPr>
        <p:spPr>
          <a:xfrm>
            <a:off x="6414516" y="4169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Number text"/>
          <p:cNvSpPr txBox="1"/>
          <p:nvPr/>
        </p:nvSpPr>
        <p:spPr>
          <a:xfrm>
            <a:off x="6414516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Card text 7"/>
          <p:cNvSpPr txBox="1"/>
          <p:nvPr/>
        </p:nvSpPr>
        <p:spPr>
          <a:xfrm>
            <a:off x="6414516" y="4672584"/>
            <a:ext cx="218313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Versioning &amp; deprecation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Strategies, compatibility rules, Sunset headers</a:t>
            </a:r>
            <a:endParaRPr lang="en-US" sz="1800" dirty="0"/>
          </a:p>
        </p:txBody>
      </p:sp>
      <p:sp>
        <p:nvSpPr>
          <p:cNvPr id="31" name="Card 8"/>
          <p:cNvSpPr/>
          <p:nvPr/>
        </p:nvSpPr>
        <p:spPr>
          <a:xfrm>
            <a:off x="901827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32" name="Number"/>
          <p:cNvSpPr/>
          <p:nvPr/>
        </p:nvSpPr>
        <p:spPr>
          <a:xfrm>
            <a:off x="9237726" y="4169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Number text"/>
          <p:cNvSpPr txBox="1"/>
          <p:nvPr/>
        </p:nvSpPr>
        <p:spPr>
          <a:xfrm>
            <a:off x="9237726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Card text 8"/>
          <p:cNvSpPr txBox="1"/>
          <p:nvPr/>
        </p:nvSpPr>
        <p:spPr>
          <a:xfrm>
            <a:off x="9237726" y="4672584"/>
            <a:ext cx="218313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Tooling &amp; wrap-up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OpenAPI, testing, REST vs GraphQL/gRPC, checklist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Evolution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How the Web's architecture became the dominant style for APIs</a:t>
            </a:r>
            <a:endParaRPr lang="en-US" sz="2200" dirty="0"/>
          </a:p>
        </p:txBody>
      </p:sp>
      <p:sp>
        <p:nvSpPr>
          <p:cNvPr id="5" name="Topic RPC and SOAP"/>
          <p:cNvSpPr/>
          <p:nvPr/>
        </p:nvSpPr>
        <p:spPr>
          <a:xfrm>
            <a:off x="822960" y="4937760"/>
            <a:ext cx="18288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6" name="Topic text"/>
          <p:cNvSpPr txBox="1"/>
          <p:nvPr/>
        </p:nvSpPr>
        <p:spPr>
          <a:xfrm>
            <a:off x="82296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RPC and SOAP</a:t>
            </a:r>
            <a:endParaRPr lang="en-US" sz="1500" dirty="0"/>
          </a:p>
        </p:txBody>
      </p:sp>
      <p:sp>
        <p:nvSpPr>
          <p:cNvPr id="7" name="Topic Fielding's REST"/>
          <p:cNvSpPr/>
          <p:nvPr/>
        </p:nvSpPr>
        <p:spPr>
          <a:xfrm>
            <a:off x="2834640" y="4937760"/>
            <a:ext cx="21717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8" name="Topic text"/>
          <p:cNvSpPr txBox="1"/>
          <p:nvPr/>
        </p:nvSpPr>
        <p:spPr>
          <a:xfrm>
            <a:off x="2834640" y="493776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Fielding's REST</a:t>
            </a:r>
            <a:endParaRPr lang="en-US" sz="1500" dirty="0"/>
          </a:p>
        </p:txBody>
      </p:sp>
      <p:sp>
        <p:nvSpPr>
          <p:cNvPr id="9" name="Topic Web 2.0 APIs"/>
          <p:cNvSpPr/>
          <p:nvPr/>
        </p:nvSpPr>
        <p:spPr>
          <a:xfrm>
            <a:off x="5189220" y="4937760"/>
            <a:ext cx="18288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0" name="Topic text"/>
          <p:cNvSpPr txBox="1"/>
          <p:nvPr/>
        </p:nvSpPr>
        <p:spPr>
          <a:xfrm>
            <a:off x="518922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Web 2.0 APIs</a:t>
            </a:r>
            <a:endParaRPr lang="en-US" sz="1500" dirty="0"/>
          </a:p>
        </p:txBody>
      </p:sp>
      <p:sp>
        <p:nvSpPr>
          <p:cNvPr id="11" name="Topic OpenAPI &amp; modern standards"/>
          <p:cNvSpPr/>
          <p:nvPr/>
        </p:nvSpPr>
        <p:spPr>
          <a:xfrm>
            <a:off x="7200900" y="4937760"/>
            <a:ext cx="34290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2" name="Topic text"/>
          <p:cNvSpPr txBox="1"/>
          <p:nvPr/>
        </p:nvSpPr>
        <p:spPr>
          <a:xfrm>
            <a:off x="7200900" y="49377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OpenAPI &amp; modern standards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Before REST: the RPC era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01 · EVOLUTION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26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1990s distributed computing hid the network behind local-looking calls: CORBA (1991), DCOM (1996), Java RMI (1997)</a:t>
            </a:r>
            <a:endParaRPr lang="en-US" sz="2000" dirty="0"/>
          </a:p>
          <a:p>
            <a:pPr marL="342900" indent="-342900">
              <a:spcAft>
                <a:spcPts val="1526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Tight coupling: binary protocols, generated stubs, language and platform lock-in, painful through firewalls</a:t>
            </a:r>
            <a:endParaRPr lang="en-US" sz="2000" dirty="0"/>
          </a:p>
          <a:p>
            <a:pPr marL="342900" indent="-342900">
              <a:spcAft>
                <a:spcPts val="1526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1998: XML-RPC, XML payloads POSTed over HTTP</a:t>
            </a:r>
            <a:endParaRPr lang="en-US" sz="2000" dirty="0"/>
          </a:p>
          <a:p>
            <a:pPr marL="342900" indent="-342900">
              <a:spcAft>
                <a:spcPts val="1526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1998 to 2000: SOAP, with an XML envelope, WSDL contracts, UDDI registries and the WS-* stack (WS-Security, WS-ReliableMessaging)</a:t>
            </a:r>
            <a:endParaRPr lang="en-US" sz="2000" dirty="0"/>
          </a:p>
          <a:p>
            <a:pPr marL="342900" indent="-342900">
              <a:spcAft>
                <a:spcPts val="1526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Powerful, but verbose, tooling-dependent and complex</a:t>
            </a:r>
            <a:endParaRPr lang="en-US" sz="2000" dirty="0"/>
          </a:p>
        </p:txBody>
      </p:sp>
      <p:sp>
        <p:nvSpPr>
          <p:cNvPr id="5" name="Callout"/>
          <p:cNvSpPr/>
          <p:nvPr/>
        </p:nvSpPr>
        <p:spPr>
          <a:xfrm>
            <a:off x="7891272" y="1554480"/>
            <a:ext cx="3749040" cy="2453640"/>
          </a:xfrm>
          <a:prstGeom prst="roundRect">
            <a:avLst>
              <a:gd name="adj" fmla="val 4472"/>
            </a:avLst>
          </a:prstGeom>
          <a:solidFill>
            <a:schemeClr val="tx1"/>
          </a:solidFill>
          <a:ln/>
        </p:spPr>
      </p:sp>
      <p:sp>
        <p:nvSpPr>
          <p:cNvPr id="6" name="Callout text"/>
          <p:cNvSpPr txBox="1"/>
          <p:nvPr/>
        </p:nvSpPr>
        <p:spPr>
          <a:xfrm>
            <a:off x="8165592" y="1783080"/>
            <a:ext cx="3200400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HTTP as a tunnel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SOAP and XML-RPC used HTTP only as transport: one endpoint, POST for everything. URIs, verbs, status codes and caching were ignored.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Evolution timeline (1/2)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01 · EVOLUTION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Pill 1991"/>
          <p:cNvSpPr/>
          <p:nvPr/>
        </p:nvSpPr>
        <p:spPr>
          <a:xfrm>
            <a:off x="768096" y="1691640"/>
            <a:ext cx="83210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Pill text 1991"/>
          <p:cNvSpPr txBox="1"/>
          <p:nvPr/>
        </p:nvSpPr>
        <p:spPr>
          <a:xfrm>
            <a:off x="768096" y="16916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1991</a:t>
            </a:r>
            <a:endParaRPr lang="en-US" sz="1300" dirty="0"/>
          </a:p>
        </p:txBody>
      </p:sp>
      <p:sp>
        <p:nvSpPr>
          <p:cNvPr id="7" name="Card text 1"/>
          <p:cNvSpPr txBox="1"/>
          <p:nvPr/>
        </p:nvSpPr>
        <p:spPr>
          <a:xfrm>
            <a:off x="768096" y="2148840"/>
            <a:ext cx="218313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World Wide Web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URLs, HTTP and HTML go public; the architecture REST will later describe.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337185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Pill 1996-99"/>
          <p:cNvSpPr/>
          <p:nvPr/>
        </p:nvSpPr>
        <p:spPr>
          <a:xfrm>
            <a:off x="3591306" y="1691640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Pill text 1996-99"/>
          <p:cNvSpPr txBox="1"/>
          <p:nvPr/>
        </p:nvSpPr>
        <p:spPr>
          <a:xfrm>
            <a:off x="3591306" y="1691640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1996-99</a:t>
            </a:r>
            <a:endParaRPr lang="en-US" sz="1300" dirty="0"/>
          </a:p>
        </p:txBody>
      </p:sp>
      <p:sp>
        <p:nvSpPr>
          <p:cNvPr id="11" name="Card text 2"/>
          <p:cNvSpPr txBox="1"/>
          <p:nvPr/>
        </p:nvSpPr>
        <p:spPr>
          <a:xfrm>
            <a:off x="3591306" y="2148840"/>
            <a:ext cx="218313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HTTP/1.0 and 1.1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RFC 1945, RFC 2068 and RFC 2616: methods, status codes, caching, persistent connections.</a:t>
            </a:r>
            <a:endParaRPr lang="en-US" sz="1800" dirty="0"/>
          </a:p>
        </p:txBody>
      </p:sp>
      <p:sp>
        <p:nvSpPr>
          <p:cNvPr id="12" name="Card 3"/>
          <p:cNvSpPr/>
          <p:nvPr/>
        </p:nvSpPr>
        <p:spPr>
          <a:xfrm>
            <a:off x="619506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Pill 1998-00"/>
          <p:cNvSpPr/>
          <p:nvPr/>
        </p:nvSpPr>
        <p:spPr>
          <a:xfrm>
            <a:off x="6414516" y="1691640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Pill text 1998-00"/>
          <p:cNvSpPr txBox="1"/>
          <p:nvPr/>
        </p:nvSpPr>
        <p:spPr>
          <a:xfrm>
            <a:off x="6414516" y="1691640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1998-00</a:t>
            </a:r>
            <a:endParaRPr lang="en-US" sz="1300" dirty="0"/>
          </a:p>
        </p:txBody>
      </p:sp>
      <p:sp>
        <p:nvSpPr>
          <p:cNvPr id="15" name="Card text 3"/>
          <p:cNvSpPr txBox="1"/>
          <p:nvPr/>
        </p:nvSpPr>
        <p:spPr>
          <a:xfrm>
            <a:off x="6414516" y="2148840"/>
            <a:ext cx="218313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XML-RPC and SOAP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Enterprise web services: WSDL, UDDI, WS-*.</a:t>
            </a:r>
            <a:endParaRPr lang="en-US" sz="1800" dirty="0"/>
          </a:p>
        </p:txBody>
      </p:sp>
      <p:sp>
        <p:nvSpPr>
          <p:cNvPr id="16" name="Card 4"/>
          <p:cNvSpPr/>
          <p:nvPr/>
        </p:nvSpPr>
        <p:spPr>
          <a:xfrm>
            <a:off x="901827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7" name="Pill 2000"/>
          <p:cNvSpPr/>
          <p:nvPr/>
        </p:nvSpPr>
        <p:spPr>
          <a:xfrm>
            <a:off x="9237726" y="1691640"/>
            <a:ext cx="83210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Pill text 2000"/>
          <p:cNvSpPr txBox="1"/>
          <p:nvPr/>
        </p:nvSpPr>
        <p:spPr>
          <a:xfrm>
            <a:off x="9237726" y="16916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2000</a:t>
            </a:r>
            <a:endParaRPr lang="en-US" sz="1300" dirty="0"/>
          </a:p>
        </p:txBody>
      </p:sp>
      <p:sp>
        <p:nvSpPr>
          <p:cNvPr id="19" name="Card text 4"/>
          <p:cNvSpPr txBox="1"/>
          <p:nvPr/>
        </p:nvSpPr>
        <p:spPr>
          <a:xfrm>
            <a:off x="9237726" y="2148840"/>
            <a:ext cx="218313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Fielding's dissertation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REST defined in Chapter 5 of his UC Irvine PhD thesis.</a:t>
            </a:r>
            <a:endParaRPr lang="en-US" sz="1800" dirty="0"/>
          </a:p>
        </p:txBody>
      </p:sp>
      <p:sp>
        <p:nvSpPr>
          <p:cNvPr id="20" name="Card 5"/>
          <p:cNvSpPr/>
          <p:nvPr/>
        </p:nvSpPr>
        <p:spPr>
          <a:xfrm>
            <a:off x="54864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1" name="Pill 2000-02"/>
          <p:cNvSpPr/>
          <p:nvPr/>
        </p:nvSpPr>
        <p:spPr>
          <a:xfrm>
            <a:off x="768096" y="4169664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Pill text 2000-02"/>
          <p:cNvSpPr txBox="1"/>
          <p:nvPr/>
        </p:nvSpPr>
        <p:spPr>
          <a:xfrm>
            <a:off x="768096" y="4169664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2000-02</a:t>
            </a:r>
            <a:endParaRPr lang="en-US" sz="1300" dirty="0"/>
          </a:p>
        </p:txBody>
      </p:sp>
      <p:sp>
        <p:nvSpPr>
          <p:cNvPr id="23" name="Card text 5"/>
          <p:cNvSpPr txBox="1"/>
          <p:nvPr/>
        </p:nvSpPr>
        <p:spPr>
          <a:xfrm>
            <a:off x="768096" y="4626864"/>
            <a:ext cx="218313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First commercial Web APIs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Salesforce and eBay (2000), Amazon Web Services (2002).</a:t>
            </a:r>
            <a:endParaRPr lang="en-US" sz="1800" dirty="0"/>
          </a:p>
        </p:txBody>
      </p:sp>
      <p:sp>
        <p:nvSpPr>
          <p:cNvPr id="24" name="Card 6"/>
          <p:cNvSpPr/>
          <p:nvPr/>
        </p:nvSpPr>
        <p:spPr>
          <a:xfrm>
            <a:off x="337185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5" name="Pill 2004-07"/>
          <p:cNvSpPr/>
          <p:nvPr/>
        </p:nvSpPr>
        <p:spPr>
          <a:xfrm>
            <a:off x="3591306" y="4169664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Pill text 2004-07"/>
          <p:cNvSpPr txBox="1"/>
          <p:nvPr/>
        </p:nvSpPr>
        <p:spPr>
          <a:xfrm>
            <a:off x="3591306" y="4169664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2004-07</a:t>
            </a:r>
            <a:endParaRPr lang="en-US" sz="1300" dirty="0"/>
          </a:p>
        </p:txBody>
      </p:sp>
      <p:sp>
        <p:nvSpPr>
          <p:cNvPr id="27" name="Card text 6"/>
          <p:cNvSpPr txBox="1"/>
          <p:nvPr/>
        </p:nvSpPr>
        <p:spPr>
          <a:xfrm>
            <a:off x="3591306" y="4626864"/>
            <a:ext cx="218313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Web 2.0 and JSON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Flickr, Twitter and Facebook APIs; JSON overtakes XML; Rails popularises resource routing.</a:t>
            </a:r>
            <a:endParaRPr lang="en-US" sz="1800" dirty="0"/>
          </a:p>
        </p:txBody>
      </p:sp>
      <p:sp>
        <p:nvSpPr>
          <p:cNvPr id="28" name="Card 7"/>
          <p:cNvSpPr/>
          <p:nvPr/>
        </p:nvSpPr>
        <p:spPr>
          <a:xfrm>
            <a:off x="619506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9" name="Pill 2008-10"/>
          <p:cNvSpPr/>
          <p:nvPr/>
        </p:nvSpPr>
        <p:spPr>
          <a:xfrm>
            <a:off x="6414516" y="4169664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Pill text 2008-10"/>
          <p:cNvSpPr txBox="1"/>
          <p:nvPr/>
        </p:nvSpPr>
        <p:spPr>
          <a:xfrm>
            <a:off x="6414516" y="4169664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2008-10</a:t>
            </a:r>
            <a:endParaRPr lang="en-US" sz="1300" dirty="0"/>
          </a:p>
        </p:txBody>
      </p:sp>
      <p:sp>
        <p:nvSpPr>
          <p:cNvPr id="31" name="Card text 7"/>
          <p:cNvSpPr txBox="1"/>
          <p:nvPr/>
        </p:nvSpPr>
        <p:spPr>
          <a:xfrm>
            <a:off x="6414516" y="4626864"/>
            <a:ext cx="218313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Richardson Maturity Model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Leonard Richardson's 2008 talk; Martin Fowler's 2010 article.</a:t>
            </a:r>
            <a:endParaRPr lang="en-US" sz="1800" dirty="0"/>
          </a:p>
        </p:txBody>
      </p:sp>
      <p:sp>
        <p:nvSpPr>
          <p:cNvPr id="32" name="Card 8"/>
          <p:cNvSpPr/>
          <p:nvPr/>
        </p:nvSpPr>
        <p:spPr>
          <a:xfrm>
            <a:off x="901827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33" name="Pill 2011-17"/>
          <p:cNvSpPr/>
          <p:nvPr/>
        </p:nvSpPr>
        <p:spPr>
          <a:xfrm>
            <a:off x="9237726" y="4169664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Pill text 2011-17"/>
          <p:cNvSpPr txBox="1"/>
          <p:nvPr/>
        </p:nvSpPr>
        <p:spPr>
          <a:xfrm>
            <a:off x="9237726" y="4169664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2011-17</a:t>
            </a:r>
            <a:endParaRPr lang="en-US" sz="1300" dirty="0"/>
          </a:p>
        </p:txBody>
      </p:sp>
      <p:sp>
        <p:nvSpPr>
          <p:cNvPr id="35" name="Card text 8"/>
          <p:cNvSpPr txBox="1"/>
          <p:nvPr/>
        </p:nvSpPr>
        <p:spPr>
          <a:xfrm>
            <a:off x="9237726" y="4626864"/>
            <a:ext cx="218313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Swagger to OpenAPI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Swagger (2011), OpenAPI Initiative (2015), OpenAPI 3.0 (2017).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Evolution timeline (2/2)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01 · EVOLUTION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Pill 2014-15"/>
          <p:cNvSpPr/>
          <p:nvPr/>
        </p:nvSpPr>
        <p:spPr>
          <a:xfrm>
            <a:off x="768096" y="1691640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Pill text 2014-15"/>
          <p:cNvSpPr txBox="1"/>
          <p:nvPr/>
        </p:nvSpPr>
        <p:spPr>
          <a:xfrm>
            <a:off x="768096" y="1691640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2014-15</a:t>
            </a:r>
            <a:endParaRPr lang="en-US" sz="1300" dirty="0"/>
          </a:p>
        </p:txBody>
      </p:sp>
      <p:sp>
        <p:nvSpPr>
          <p:cNvPr id="7" name="Card text 1"/>
          <p:cNvSpPr txBox="1"/>
          <p:nvPr/>
        </p:nvSpPr>
        <p:spPr>
          <a:xfrm>
            <a:off x="768096" y="2148840"/>
            <a:ext cx="31242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HTTP/1.1 revised, HTTP/2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RFC 7230 to 7235 clarify HTTP/1.1; HTTP/2 (RFC 7540) adds multiplexing.</a:t>
            </a:r>
            <a:endParaRPr lang="en-US" sz="2000" dirty="0"/>
          </a:p>
        </p:txBody>
      </p:sp>
      <p:sp>
        <p:nvSpPr>
          <p:cNvPr id="8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Pill 2015"/>
          <p:cNvSpPr/>
          <p:nvPr/>
        </p:nvSpPr>
        <p:spPr>
          <a:xfrm>
            <a:off x="4532376" y="1691640"/>
            <a:ext cx="83210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Pill text 2015"/>
          <p:cNvSpPr txBox="1"/>
          <p:nvPr/>
        </p:nvSpPr>
        <p:spPr>
          <a:xfrm>
            <a:off x="4532376" y="16916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2015</a:t>
            </a:r>
            <a:endParaRPr lang="en-US" sz="1300" dirty="0"/>
          </a:p>
        </p:txBody>
      </p:sp>
      <p:sp>
        <p:nvSpPr>
          <p:cNvPr id="11" name="Card text 2"/>
          <p:cNvSpPr txBox="1"/>
          <p:nvPr/>
        </p:nvSpPr>
        <p:spPr>
          <a:xfrm>
            <a:off x="4532376" y="2148840"/>
            <a:ext cx="31242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GraphQL and gRPC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Both open-sourced: REST gets alternatives for flexible queries and internal RPC.</a:t>
            </a:r>
            <a:endParaRPr lang="en-US" sz="2000" dirty="0"/>
          </a:p>
        </p:txBody>
      </p:sp>
      <p:sp>
        <p:nvSpPr>
          <p:cNvPr id="12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Pill 2016"/>
          <p:cNvSpPr/>
          <p:nvPr/>
        </p:nvSpPr>
        <p:spPr>
          <a:xfrm>
            <a:off x="8296656" y="1691640"/>
            <a:ext cx="83210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Pill text 2016"/>
          <p:cNvSpPr txBox="1"/>
          <p:nvPr/>
        </p:nvSpPr>
        <p:spPr>
          <a:xfrm>
            <a:off x="8296656" y="16916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2016</a:t>
            </a:r>
            <a:endParaRPr lang="en-US" sz="1300" dirty="0"/>
          </a:p>
        </p:txBody>
      </p:sp>
      <p:sp>
        <p:nvSpPr>
          <p:cNvPr id="15" name="Card text 3"/>
          <p:cNvSpPr txBox="1"/>
          <p:nvPr/>
        </p:nvSpPr>
        <p:spPr>
          <a:xfrm>
            <a:off x="8296656" y="2148840"/>
            <a:ext cx="31242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Problem Details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RFC 7807 standardises machine-readable API errors (later RFC 9457).</a:t>
            </a:r>
            <a:endParaRPr lang="en-US" sz="2000" dirty="0"/>
          </a:p>
        </p:txBody>
      </p:sp>
      <p:sp>
        <p:nvSpPr>
          <p:cNvPr id="16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7" name="Pill 2021"/>
          <p:cNvSpPr/>
          <p:nvPr/>
        </p:nvSpPr>
        <p:spPr>
          <a:xfrm>
            <a:off x="768096" y="4169664"/>
            <a:ext cx="83210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Pill text 2021"/>
          <p:cNvSpPr txBox="1"/>
          <p:nvPr/>
        </p:nvSpPr>
        <p:spPr>
          <a:xfrm>
            <a:off x="768096" y="416966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2021</a:t>
            </a:r>
            <a:endParaRPr lang="en-US" sz="1300" dirty="0"/>
          </a:p>
        </p:txBody>
      </p:sp>
      <p:sp>
        <p:nvSpPr>
          <p:cNvPr id="19" name="Card text 4"/>
          <p:cNvSpPr txBox="1"/>
          <p:nvPr/>
        </p:nvSpPr>
        <p:spPr>
          <a:xfrm>
            <a:off x="768096" y="4626864"/>
            <a:ext cx="31242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OpenAPI 3.1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Full alignment with JSON Schema 2020-12.</a:t>
            </a:r>
            <a:endParaRPr lang="en-US" sz="2000" dirty="0"/>
          </a:p>
        </p:txBody>
      </p:sp>
      <p:sp>
        <p:nvSpPr>
          <p:cNvPr id="20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1" name="Pill 2022"/>
          <p:cNvSpPr/>
          <p:nvPr/>
        </p:nvSpPr>
        <p:spPr>
          <a:xfrm>
            <a:off x="4532376" y="4169664"/>
            <a:ext cx="83210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Pill text 2022"/>
          <p:cNvSpPr txBox="1"/>
          <p:nvPr/>
        </p:nvSpPr>
        <p:spPr>
          <a:xfrm>
            <a:off x="4532376" y="416966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2022</a:t>
            </a:r>
            <a:endParaRPr lang="en-US" sz="1300" dirty="0"/>
          </a:p>
        </p:txBody>
      </p:sp>
      <p:sp>
        <p:nvSpPr>
          <p:cNvPr id="23" name="Card text 5"/>
          <p:cNvSpPr txBox="1"/>
          <p:nvPr/>
        </p:nvSpPr>
        <p:spPr>
          <a:xfrm>
            <a:off x="4532376" y="4626864"/>
            <a:ext cx="31242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HTTP semantics consolidated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RFC 9110 to 9112 and HTTP/3 (RFC 9114): one authoritative HTTP semantics spec.</a:t>
            </a:r>
            <a:endParaRPr lang="en-US" sz="2000" dirty="0"/>
          </a:p>
        </p:txBody>
      </p:sp>
      <p:sp>
        <p:nvSpPr>
          <p:cNvPr id="2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5" name="Pill 2023-25"/>
          <p:cNvSpPr/>
          <p:nvPr/>
        </p:nvSpPr>
        <p:spPr>
          <a:xfrm>
            <a:off x="8296656" y="4169664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Pill text 2023-25"/>
          <p:cNvSpPr txBox="1"/>
          <p:nvPr/>
        </p:nvSpPr>
        <p:spPr>
          <a:xfrm>
            <a:off x="8296656" y="4169664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2023-25</a:t>
            </a:r>
            <a:endParaRPr lang="en-US" sz="1300" dirty="0"/>
          </a:p>
        </p:txBody>
      </p:sp>
      <p:sp>
        <p:nvSpPr>
          <p:cNvPr id="27" name="Card text 6"/>
          <p:cNvSpPr txBox="1"/>
          <p:nvPr/>
        </p:nvSpPr>
        <p:spPr>
          <a:xfrm>
            <a:off x="8296656" y="4626864"/>
            <a:ext cx="31242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RFC 9457, RFC 9745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Problem Details update; the Deprecation header joins Sunset (RFC 8594).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SOAP vs REST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01 · EVOLUTION</a:t>
            </a:r>
            <a:endParaRPr lang="en-US" sz="12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477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with a formal specification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style (a set of constraints)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JSON, XML, HTML, binary, any media type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WSDL, strict and mandatory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OpenAPI, descriptive and optional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HTTP, SMTP, JMS and others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Practically none (POST to one endpoint)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HTTP caching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 Fault element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status codes plus problem details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WS-Security (message level)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plus OAuth 2.0 / OpenID Connect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integration, formal contracts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and internal APIs, mobile, microservices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REST?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01 · EVOLUTION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REpresentational State Transfer: an architectural style for distributed hypermedia systems, defined by Roy Fielding (2000)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Derived from the architecture of the Web; a set of constraints, not a protocol, standard or product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Clients and servers exchange representations of resources; application state moves forward by following hypermedia links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Fielding has been explicit that an API which is not hypertext-driven is not REST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practice the word covers resource-oriented HTTP + JSON APIs</a:t>
            </a:r>
            <a:endParaRPr lang="en-US" sz="2000" dirty="0"/>
          </a:p>
        </p:txBody>
      </p:sp>
      <p:sp>
        <p:nvSpPr>
          <p:cNvPr id="5" name="Callout"/>
          <p:cNvSpPr/>
          <p:nvPr/>
        </p:nvSpPr>
        <p:spPr>
          <a:xfrm>
            <a:off x="7891272" y="1554480"/>
            <a:ext cx="3749040" cy="2453640"/>
          </a:xfrm>
          <a:prstGeom prst="roundRect">
            <a:avLst>
              <a:gd name="adj" fmla="val 4472"/>
            </a:avLst>
          </a:prstGeom>
          <a:solidFill>
            <a:schemeClr val="tx1"/>
          </a:solidFill>
          <a:ln/>
        </p:spPr>
      </p:sp>
      <p:sp>
        <p:nvSpPr>
          <p:cNvPr id="6" name="Callout text"/>
          <p:cNvSpPr txBox="1"/>
          <p:nvPr/>
        </p:nvSpPr>
        <p:spPr>
          <a:xfrm>
            <a:off x="8165592" y="1783080"/>
            <a:ext cx="3200400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REST vs RESTful vs HTTP API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REST is the style. RESTful describes a system that follows it. Most "REST APIs" are really HTTP APIs at Richardson level 2.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Core terminology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01 · EVOLUTION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Resource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Any named concept: a customer, an order, a collection of orders. Identified by a URI.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Representation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snapshot of a resource's state in some format (JSON, XML, HTML), chosen via media types.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URI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stable identifier of a resource (RFC 3986), for example /orders/42. A name, not an action.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76809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Media type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Tells the client how to parse the body: application/json, application/problem+json, application/vnd.example+json.</a:t>
            </a:r>
            <a:endParaRPr lang="en-US" sz="2000" dirty="0"/>
          </a:p>
        </p:txBody>
      </p:sp>
      <p:sp>
        <p:nvSpPr>
          <p:cNvPr id="12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Card text 5"/>
          <p:cNvSpPr txBox="1"/>
          <p:nvPr/>
        </p:nvSpPr>
        <p:spPr>
          <a:xfrm>
            <a:off x="453237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Hypermedia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Links and controls inside representations that tell clients what they can do next.</a:t>
            </a:r>
            <a:endParaRPr lang="en-US" sz="2000" dirty="0"/>
          </a:p>
        </p:txBody>
      </p:sp>
      <p:sp>
        <p:nvSpPr>
          <p:cNvPr id="1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ard text 6"/>
          <p:cNvSpPr txBox="1"/>
          <p:nvPr/>
        </p:nvSpPr>
        <p:spPr>
          <a:xfrm>
            <a:off x="829665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Uniform interface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same small set of methods with the same semantics for every resource.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Characteristics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architectural constraints that give REST its properties</a:t>
            </a:r>
            <a:endParaRPr lang="en-US" sz="2200" dirty="0"/>
          </a:p>
        </p:txBody>
      </p:sp>
      <p:sp>
        <p:nvSpPr>
          <p:cNvPr id="5" name="Topic Six constraints"/>
          <p:cNvSpPr/>
          <p:nvPr/>
        </p:nvSpPr>
        <p:spPr>
          <a:xfrm>
            <a:off x="822960" y="4937760"/>
            <a:ext cx="21717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6" name="Topic text"/>
          <p:cNvSpPr txBox="1"/>
          <p:nvPr/>
        </p:nvSpPr>
        <p:spPr>
          <a:xfrm>
            <a:off x="822960" y="493776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Six constraints</a:t>
            </a:r>
            <a:endParaRPr lang="en-US" sz="1500" dirty="0"/>
          </a:p>
        </p:txBody>
      </p:sp>
      <p:sp>
        <p:nvSpPr>
          <p:cNvPr id="7" name="Topic Statelessness"/>
          <p:cNvSpPr/>
          <p:nvPr/>
        </p:nvSpPr>
        <p:spPr>
          <a:xfrm>
            <a:off x="3177540" y="4937760"/>
            <a:ext cx="19431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8" name="Topic text"/>
          <p:cNvSpPr txBox="1"/>
          <p:nvPr/>
        </p:nvSpPr>
        <p:spPr>
          <a:xfrm>
            <a:off x="3177540" y="4937760"/>
            <a:ext cx="1943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Statelessness</a:t>
            </a:r>
            <a:endParaRPr lang="en-US" sz="1500" dirty="0"/>
          </a:p>
        </p:txBody>
      </p:sp>
      <p:sp>
        <p:nvSpPr>
          <p:cNvPr id="9" name="Topic Uniform interface"/>
          <p:cNvSpPr/>
          <p:nvPr/>
        </p:nvSpPr>
        <p:spPr>
          <a:xfrm>
            <a:off x="5303520" y="4937760"/>
            <a:ext cx="24003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0" name="Topic text"/>
          <p:cNvSpPr txBox="1"/>
          <p:nvPr/>
        </p:nvSpPr>
        <p:spPr>
          <a:xfrm>
            <a:off x="5303520" y="4937760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Uniform interface</a:t>
            </a:r>
            <a:endParaRPr lang="en-US" sz="1500" dirty="0"/>
          </a:p>
        </p:txBody>
      </p:sp>
      <p:sp>
        <p:nvSpPr>
          <p:cNvPr id="11" name="Topic Resource modelling"/>
          <p:cNvSpPr/>
          <p:nvPr/>
        </p:nvSpPr>
        <p:spPr>
          <a:xfrm>
            <a:off x="7886700" y="4937760"/>
            <a:ext cx="25146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2" name="Topic text"/>
          <p:cNvSpPr txBox="1"/>
          <p:nvPr/>
        </p:nvSpPr>
        <p:spPr>
          <a:xfrm>
            <a:off x="7886700" y="4937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Resource modelling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six REST constraints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02 · CHARACTERISTICS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Number"/>
          <p:cNvSpPr/>
          <p:nvPr/>
        </p:nvSpPr>
        <p:spPr>
          <a:xfrm>
            <a:off x="768096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ber text"/>
          <p:cNvSpPr txBox="1"/>
          <p:nvPr/>
        </p:nvSpPr>
        <p:spPr>
          <a:xfrm>
            <a:off x="76809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 text 1"/>
          <p:cNvSpPr txBox="1"/>
          <p:nvPr/>
        </p:nvSpPr>
        <p:spPr>
          <a:xfrm>
            <a:off x="768096" y="2194560"/>
            <a:ext cx="3124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Client-server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Separate UI concerns from data storage; each side evolves independently.</a:t>
            </a:r>
            <a:endParaRPr lang="en-US" sz="2000" dirty="0"/>
          </a:p>
        </p:txBody>
      </p:sp>
      <p:sp>
        <p:nvSpPr>
          <p:cNvPr id="8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Number"/>
          <p:cNvSpPr/>
          <p:nvPr/>
        </p:nvSpPr>
        <p:spPr>
          <a:xfrm>
            <a:off x="4532376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ber text"/>
          <p:cNvSpPr txBox="1"/>
          <p:nvPr/>
        </p:nvSpPr>
        <p:spPr>
          <a:xfrm>
            <a:off x="453237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ard text 2"/>
          <p:cNvSpPr txBox="1"/>
          <p:nvPr/>
        </p:nvSpPr>
        <p:spPr>
          <a:xfrm>
            <a:off x="4532376" y="2194560"/>
            <a:ext cx="3124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Stateless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request carries all the context needed; the server keeps no session.</a:t>
            </a:r>
            <a:endParaRPr lang="en-US" sz="2000" dirty="0"/>
          </a:p>
        </p:txBody>
      </p:sp>
      <p:sp>
        <p:nvSpPr>
          <p:cNvPr id="12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Number"/>
          <p:cNvSpPr/>
          <p:nvPr/>
        </p:nvSpPr>
        <p:spPr>
          <a:xfrm>
            <a:off x="8296656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umber text"/>
          <p:cNvSpPr txBox="1"/>
          <p:nvPr/>
        </p:nvSpPr>
        <p:spPr>
          <a:xfrm>
            <a:off x="829665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Card text 3"/>
          <p:cNvSpPr txBox="1"/>
          <p:nvPr/>
        </p:nvSpPr>
        <p:spPr>
          <a:xfrm>
            <a:off x="8296656" y="2194560"/>
            <a:ext cx="3124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Cacheable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Responses declare whether they may be cached, cutting latency and load.</a:t>
            </a:r>
            <a:endParaRPr lang="en-US" sz="2000" dirty="0"/>
          </a:p>
        </p:txBody>
      </p:sp>
      <p:sp>
        <p:nvSpPr>
          <p:cNvPr id="16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7" name="Number"/>
          <p:cNvSpPr/>
          <p:nvPr/>
        </p:nvSpPr>
        <p:spPr>
          <a:xfrm>
            <a:off x="768096" y="4169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ber text"/>
          <p:cNvSpPr txBox="1"/>
          <p:nvPr/>
        </p:nvSpPr>
        <p:spPr>
          <a:xfrm>
            <a:off x="768096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Card text 4"/>
          <p:cNvSpPr txBox="1"/>
          <p:nvPr/>
        </p:nvSpPr>
        <p:spPr>
          <a:xfrm>
            <a:off x="768096" y="4672584"/>
            <a:ext cx="3124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Uniform interface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Identification, manipulation through representations, self-descriptive messages, hypermedia.</a:t>
            </a:r>
            <a:endParaRPr lang="en-US" sz="2000" dirty="0"/>
          </a:p>
        </p:txBody>
      </p:sp>
      <p:sp>
        <p:nvSpPr>
          <p:cNvPr id="20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1" name="Number"/>
          <p:cNvSpPr/>
          <p:nvPr/>
        </p:nvSpPr>
        <p:spPr>
          <a:xfrm>
            <a:off x="4532376" y="4169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Number text"/>
          <p:cNvSpPr txBox="1"/>
          <p:nvPr/>
        </p:nvSpPr>
        <p:spPr>
          <a:xfrm>
            <a:off x="4532376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Card text 5"/>
          <p:cNvSpPr txBox="1"/>
          <p:nvPr/>
        </p:nvSpPr>
        <p:spPr>
          <a:xfrm>
            <a:off x="4532376" y="4672584"/>
            <a:ext cx="3124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Layered system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Proxies, gateways and CDNs can sit between client and server, invisibly.</a:t>
            </a:r>
            <a:endParaRPr lang="en-US" sz="2000" dirty="0"/>
          </a:p>
        </p:txBody>
      </p:sp>
      <p:sp>
        <p:nvSpPr>
          <p:cNvPr id="2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5" name="Number"/>
          <p:cNvSpPr/>
          <p:nvPr/>
        </p:nvSpPr>
        <p:spPr>
          <a:xfrm>
            <a:off x="8296656" y="4169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Number text"/>
          <p:cNvSpPr txBox="1"/>
          <p:nvPr/>
        </p:nvSpPr>
        <p:spPr>
          <a:xfrm>
            <a:off x="8296656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Card text 6"/>
          <p:cNvSpPr txBox="1"/>
          <p:nvPr/>
        </p:nvSpPr>
        <p:spPr>
          <a:xfrm>
            <a:off x="8296656" y="4672584"/>
            <a:ext cx="3124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Code on demand (optional)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Servers may send executable code, such as JavaScript, to extend clients.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Client-server and statelessness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02 · CHARACTERISTICS</a:t>
            </a:r>
            <a:endParaRPr lang="en-US" sz="1200" dirty="0"/>
          </a:p>
        </p:txBody>
      </p:sp>
      <p:sp>
        <p:nvSpPr>
          <p:cNvPr id="4" name="Compare card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Compare header"/>
          <p:cNvSpPr/>
          <p:nvPr/>
        </p:nvSpPr>
        <p:spPr>
          <a:xfrm>
            <a:off x="548640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3"/>
          </a:solidFill>
          <a:ln/>
        </p:spPr>
      </p:sp>
      <p:sp>
        <p:nvSpPr>
          <p:cNvPr id="6" name="Compare title"/>
          <p:cNvSpPr txBox="1"/>
          <p:nvPr/>
        </p:nvSpPr>
        <p:spPr>
          <a:xfrm>
            <a:off x="777240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Client-server</a:t>
            </a:r>
            <a:endParaRPr lang="en-US" sz="2200" dirty="0"/>
          </a:p>
        </p:txBody>
      </p:sp>
      <p:sp>
        <p:nvSpPr>
          <p:cNvPr id="7" name="Compare items"/>
          <p:cNvSpPr txBox="1"/>
          <p:nvPr/>
        </p:nvSpPr>
        <p:spPr>
          <a:xfrm>
            <a:off x="777240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Separation of concerns: UI and user state on the client; data, rules and storage on the server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Web, mobile and partner clients share one API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Teams release and scale each side independently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API contract is the only coupling</a:t>
            </a:r>
            <a:endParaRPr lang="en-US" sz="2000" dirty="0"/>
          </a:p>
        </p:txBody>
      </p:sp>
      <p:sp>
        <p:nvSpPr>
          <p:cNvPr id="8" name="Compare card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9" name="Compare header"/>
          <p:cNvSpPr/>
          <p:nvPr/>
        </p:nvSpPr>
        <p:spPr>
          <a:xfrm>
            <a:off x="6231636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10" name="Compare title"/>
          <p:cNvSpPr txBox="1"/>
          <p:nvPr/>
        </p:nvSpPr>
        <p:spPr>
          <a:xfrm>
            <a:off x="6460236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Stateless</a:t>
            </a:r>
            <a:endParaRPr lang="en-US" sz="2200" dirty="0"/>
          </a:p>
        </p:txBody>
      </p:sp>
      <p:sp>
        <p:nvSpPr>
          <p:cNvPr id="11" name="Compare items"/>
          <p:cNvSpPr txBox="1"/>
          <p:nvPr/>
        </p:nvSpPr>
        <p:spPr>
          <a:xfrm>
            <a:off x="6460236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client session is stored between requests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Any server instance can handle any request: easy horizontal scaling and failover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Easier to cache, debug and reason about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Cost: repeated credentials and context in every request</a:t>
            </a:r>
            <a:endParaRPr lang="en-US" sz="2000" dirty="0"/>
          </a:p>
        </p:txBody>
      </p:sp>
      <p:sp>
        <p:nvSpPr>
          <p:cNvPr id="12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3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Resource state lives on the server and is fine. Session state does not.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Statelessness in practice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02 · CHARACTERISTICS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Authentication travels with every request, usually as a bearer token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Pagination position travels as a cursor, not as a server-side iterator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Avoid sticky sessions and server-side session stores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Multi-step workflows keep their state in resources (a cart, an order status), not in a session</a:t>
            </a:r>
            <a:endParaRPr lang="en-US" sz="22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368040"/>
          </a:xfrm>
          <a:prstGeom prst="roundRect">
            <a:avLst>
              <a:gd name="adj" fmla="val 2715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Two independent requests, any server instance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/carts/7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api.example.com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Bearer eyJhbGciOi...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/carts/7/items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api.example.com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Bearer eyJhbGciOi...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"sku"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"A-1001"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"quantity"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Cacheable, layered, code on demand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02 · CHARACTERISTICS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Cacheable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Responses are explicitly cacheable or not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Cache-Control, ETag, Last-Modified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Browsers, proxies and CDNs reuse responses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Poor cache design is a top cause of slow APIs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Layered system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Client cannot tell whether it talks to the origin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API gateways, load balancers, WAFs, CDNs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Security and caching policies enforced in layers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Each layer only sees its neighbour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Code on demand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only optional constraint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Server ships scripts the client executes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Seen on the Web (JavaScript), rare in JSON APIs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Reduces what clients must pre-implement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uniform interface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02 · CHARACTERISTICS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544525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50063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1. Identification of resources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Every resource has a stable URI. Clients refer to resources by identifier, never by internal implementation details.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6195060" y="1508760"/>
            <a:ext cx="544525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6414516" y="1691640"/>
            <a:ext cx="50063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2. Manipulation through representations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Clients change state by sending a representation (JSON, XML) of the desired state, not by calling server procedures.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548640" y="3986784"/>
            <a:ext cx="544525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768096" y="4169664"/>
            <a:ext cx="50063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3. Self-descriptive messages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Each message says how to process it: method, status code, media type, caching and conditional headers.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6195060" y="3986784"/>
            <a:ext cx="544525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6414516" y="4169664"/>
            <a:ext cx="50063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4. Hypermedia as the engine of application state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Responses contain links and controls; clients discover next steps instead of hardcoding URIs (HATEOAS).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Anatomy of an HTTP exchange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02 · CHARACTERISTICS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5" name="Code label"/>
          <p:cNvSpPr txBox="1"/>
          <p:nvPr/>
        </p:nvSpPr>
        <p:spPr>
          <a:xfrm>
            <a:off x="749808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Request</a:t>
            </a:r>
            <a:endParaRPr lang="en-US" sz="1200" dirty="0"/>
          </a:p>
        </p:txBody>
      </p:sp>
      <p:sp>
        <p:nvSpPr>
          <p:cNvPr id="6" name="Code"/>
          <p:cNvSpPr txBox="1"/>
          <p:nvPr/>
        </p:nvSpPr>
        <p:spPr>
          <a:xfrm>
            <a:off x="749808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/orders/42?expand=customer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api.example.com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Bearer eyJhbGciOi...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If-None-Match: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"v7"</a:t>
            </a:r>
            <a:endParaRPr lang="en-US" sz="1200" dirty="0"/>
          </a:p>
        </p:txBody>
      </p:sp>
      <p:sp>
        <p:nvSpPr>
          <p:cNvPr id="7" name="Code box"/>
          <p:cNvSpPr/>
          <p:nvPr/>
        </p:nvSpPr>
        <p:spPr>
          <a:xfrm>
            <a:off x="6199632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8" name="Code label"/>
          <p:cNvSpPr txBox="1"/>
          <p:nvPr/>
        </p:nvSpPr>
        <p:spPr>
          <a:xfrm>
            <a:off x="6400800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Response</a:t>
            </a:r>
            <a:endParaRPr lang="en-US" sz="1200" dirty="0"/>
          </a:p>
        </p:txBody>
      </p:sp>
      <p:sp>
        <p:nvSpPr>
          <p:cNvPr id="9" name="Code"/>
          <p:cNvSpPr txBox="1"/>
          <p:nvPr/>
        </p:nvSpPr>
        <p:spPr>
          <a:xfrm>
            <a:off x="6400800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"v8"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Cache-Control: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private, max-age=30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"shipped"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"99.90"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"currency"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"EUR"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Request line + headers + optional body; status line + headers + optional body.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Modelling resources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02 · CHARACTERISTICS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Collection. GET lists, POST creates a member.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/orders/42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Item (member). GET, PUT, PATCH and DELETE apply.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/orders/42/items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Sub-collection owned by a parent; keep nesting shallow.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76809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/users/me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Singleton or alias for the current caller's resource.</a:t>
            </a:r>
            <a:endParaRPr lang="en-US" sz="2000" dirty="0"/>
          </a:p>
        </p:txBody>
      </p:sp>
      <p:sp>
        <p:nvSpPr>
          <p:cNvPr id="12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Card text 5"/>
          <p:cNvSpPr txBox="1"/>
          <p:nvPr/>
        </p:nvSpPr>
        <p:spPr>
          <a:xfrm>
            <a:off x="453237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/orders/42/cancellation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Action modelled as a resource when no CRUD verb fits.</a:t>
            </a:r>
            <a:endParaRPr lang="en-US" sz="2000" dirty="0"/>
          </a:p>
        </p:txBody>
      </p:sp>
      <p:sp>
        <p:nvSpPr>
          <p:cNvPr id="1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ard text 6"/>
          <p:cNvSpPr txBox="1"/>
          <p:nvPr/>
        </p:nvSpPr>
        <p:spPr>
          <a:xfrm>
            <a:off x="829665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/search?q=laptop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Computed or virtual resource backed by a query.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Richardson Maturity Model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four-step ladder for grading how RESTful an HTTP API is</a:t>
            </a:r>
            <a:endParaRPr lang="en-US" sz="2200" dirty="0"/>
          </a:p>
        </p:txBody>
      </p:sp>
      <p:sp>
        <p:nvSpPr>
          <p:cNvPr id="5" name="Topic Levels 0 to 3"/>
          <p:cNvSpPr/>
          <p:nvPr/>
        </p:nvSpPr>
        <p:spPr>
          <a:xfrm>
            <a:off x="822960" y="4937760"/>
            <a:ext cx="19431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6" name="Topic text"/>
          <p:cNvSpPr txBox="1"/>
          <p:nvPr/>
        </p:nvSpPr>
        <p:spPr>
          <a:xfrm>
            <a:off x="822960" y="4937760"/>
            <a:ext cx="1943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Levels 0 to 3</a:t>
            </a:r>
            <a:endParaRPr lang="en-US" sz="1500" dirty="0"/>
          </a:p>
        </p:txBody>
      </p:sp>
      <p:sp>
        <p:nvSpPr>
          <p:cNvPr id="7" name="Topic HATEOAS"/>
          <p:cNvSpPr/>
          <p:nvPr/>
        </p:nvSpPr>
        <p:spPr>
          <a:xfrm>
            <a:off x="2948940" y="493776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8" name="Topic text"/>
          <p:cNvSpPr txBox="1"/>
          <p:nvPr/>
        </p:nvSpPr>
        <p:spPr>
          <a:xfrm>
            <a:off x="2948940" y="4937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HATEOAS</a:t>
            </a:r>
            <a:endParaRPr lang="en-US" sz="1500" dirty="0"/>
          </a:p>
        </p:txBody>
      </p:sp>
      <p:sp>
        <p:nvSpPr>
          <p:cNvPr id="9" name="Topic Hypermedia formats"/>
          <p:cNvSpPr/>
          <p:nvPr/>
        </p:nvSpPr>
        <p:spPr>
          <a:xfrm>
            <a:off x="4411980" y="4937760"/>
            <a:ext cx="25146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0" name="Topic text"/>
          <p:cNvSpPr txBox="1"/>
          <p:nvPr/>
        </p:nvSpPr>
        <p:spPr>
          <a:xfrm>
            <a:off x="4411980" y="4937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Hypermedia formats</a:t>
            </a:r>
            <a:endParaRPr lang="en-US" sz="1500" dirty="0"/>
          </a:p>
        </p:txBody>
      </p:sp>
      <p:sp>
        <p:nvSpPr>
          <p:cNvPr id="11" name="Topic Which level to target"/>
          <p:cNvSpPr/>
          <p:nvPr/>
        </p:nvSpPr>
        <p:spPr>
          <a:xfrm>
            <a:off x="7109460" y="4937760"/>
            <a:ext cx="28575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2" name="Topic text"/>
          <p:cNvSpPr txBox="1"/>
          <p:nvPr/>
        </p:nvSpPr>
        <p:spPr>
          <a:xfrm>
            <a:off x="7109460" y="4937760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Which level to target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Richardson Maturity Model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03 · RICHARDSON MATURITY MODEL</a:t>
            </a:r>
            <a:endParaRPr lang="en-US" sz="1200" dirty="0"/>
          </a:p>
        </p:txBody>
      </p:sp>
      <p:sp>
        <p:nvSpPr>
          <p:cNvPr id="4" name="Level bar 0"/>
          <p:cNvSpPr/>
          <p:nvPr/>
        </p:nvSpPr>
        <p:spPr>
          <a:xfrm>
            <a:off x="548640" y="1508760"/>
            <a:ext cx="8412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Level badge"/>
          <p:cNvSpPr/>
          <p:nvPr/>
        </p:nvSpPr>
        <p:spPr>
          <a:xfrm>
            <a:off x="749808" y="1691640"/>
            <a:ext cx="530352" cy="53035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Level number"/>
          <p:cNvSpPr txBox="1"/>
          <p:nvPr/>
        </p:nvSpPr>
        <p:spPr>
          <a:xfrm>
            <a:off x="749808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</a:t>
            </a:r>
            <a:endParaRPr lang="en-US" sz="2200" dirty="0"/>
          </a:p>
        </p:txBody>
      </p:sp>
      <p:sp>
        <p:nvSpPr>
          <p:cNvPr id="7" name="Level text"/>
          <p:cNvSpPr txBox="1"/>
          <p:nvPr/>
        </p:nvSpPr>
        <p:spPr>
          <a:xfrm>
            <a:off x="1508760" y="1563624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swamp of POX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URI, one verb (POST). HTTP is only a tunnel for remote procedure calls.</a:t>
            </a:r>
            <a:endParaRPr lang="en-US" sz="2200" dirty="0"/>
          </a:p>
        </p:txBody>
      </p:sp>
      <p:sp>
        <p:nvSpPr>
          <p:cNvPr id="8" name="Level bar 1"/>
          <p:cNvSpPr/>
          <p:nvPr/>
        </p:nvSpPr>
        <p:spPr>
          <a:xfrm>
            <a:off x="548640" y="2514600"/>
            <a:ext cx="941832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9" name="Level badge"/>
          <p:cNvSpPr/>
          <p:nvPr/>
        </p:nvSpPr>
        <p:spPr>
          <a:xfrm>
            <a:off x="749808" y="2697480"/>
            <a:ext cx="530352" cy="5303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Level number"/>
          <p:cNvSpPr txBox="1"/>
          <p:nvPr/>
        </p:nvSpPr>
        <p:spPr>
          <a:xfrm>
            <a:off x="749808" y="2697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Level text"/>
          <p:cNvSpPr txBox="1"/>
          <p:nvPr/>
        </p:nvSpPr>
        <p:spPr>
          <a:xfrm>
            <a:off x="1508760" y="2569464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Resources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Many URIs, one per resource, but usually still POST for everything.</a:t>
            </a:r>
            <a:endParaRPr lang="en-US" sz="2200" dirty="0"/>
          </a:p>
        </p:txBody>
      </p:sp>
      <p:sp>
        <p:nvSpPr>
          <p:cNvPr id="12" name="Level bar 2"/>
          <p:cNvSpPr/>
          <p:nvPr/>
        </p:nvSpPr>
        <p:spPr>
          <a:xfrm>
            <a:off x="548640" y="3520440"/>
            <a:ext cx="103327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3" name="Level badge"/>
          <p:cNvSpPr/>
          <p:nvPr/>
        </p:nvSpPr>
        <p:spPr>
          <a:xfrm>
            <a:off x="749808" y="3703320"/>
            <a:ext cx="530352" cy="5303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Level number"/>
          <p:cNvSpPr txBox="1"/>
          <p:nvPr/>
        </p:nvSpPr>
        <p:spPr>
          <a:xfrm>
            <a:off x="749808" y="3703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Level text"/>
          <p:cNvSpPr txBox="1"/>
          <p:nvPr/>
        </p:nvSpPr>
        <p:spPr>
          <a:xfrm>
            <a:off x="1508760" y="3575304"/>
            <a:ext cx="9144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HTTP verbs and status codes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Correct methods and status codes: caching, idempotency and error semantics work.</a:t>
            </a:r>
            <a:endParaRPr lang="en-US" sz="2200" dirty="0"/>
          </a:p>
        </p:txBody>
      </p:sp>
      <p:sp>
        <p:nvSpPr>
          <p:cNvPr id="16" name="Level bar 3"/>
          <p:cNvSpPr/>
          <p:nvPr/>
        </p:nvSpPr>
        <p:spPr>
          <a:xfrm>
            <a:off x="548640" y="452628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/>
        </p:spPr>
      </p:sp>
      <p:sp>
        <p:nvSpPr>
          <p:cNvPr id="17" name="Level badge"/>
          <p:cNvSpPr/>
          <p:nvPr/>
        </p:nvSpPr>
        <p:spPr>
          <a:xfrm>
            <a:off x="749808" y="4709160"/>
            <a:ext cx="530352" cy="5303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8" name="Level number"/>
          <p:cNvSpPr txBox="1"/>
          <p:nvPr/>
        </p:nvSpPr>
        <p:spPr>
          <a:xfrm>
            <a:off x="749808" y="4709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Level text"/>
          <p:cNvSpPr txBox="1"/>
          <p:nvPr/>
        </p:nvSpPr>
        <p:spPr>
          <a:xfrm>
            <a:off x="1508760" y="4581144"/>
            <a:ext cx="9902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Hypermedia controls (HATEOAS)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Responses include links that tell clients the next possible actions.</a:t>
            </a:r>
            <a:endParaRPr lang="en-US" sz="2200" dirty="0"/>
          </a:p>
        </p:txBody>
      </p:sp>
      <p:sp>
        <p:nvSpPr>
          <p:cNvPr id="20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21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Proposed by Leonard Richardson (QCon 2008), popularised by Martin Fowler (2010). A grading aid, not a standard.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Level 0: the swamp of POX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03 · RICHARDSON MATURITY MODEL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5" name="Code label"/>
          <p:cNvSpPr txBox="1"/>
          <p:nvPr/>
        </p:nvSpPr>
        <p:spPr>
          <a:xfrm>
            <a:off x="749808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Request</a:t>
            </a:r>
            <a:endParaRPr lang="en-US" sz="1200" dirty="0"/>
          </a:p>
        </p:txBody>
      </p:sp>
      <p:sp>
        <p:nvSpPr>
          <p:cNvPr id="6" name="Code"/>
          <p:cNvSpPr txBox="1"/>
          <p:nvPr/>
        </p:nvSpPr>
        <p:spPr>
          <a:xfrm>
            <a:off x="749808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"getOrder"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"orderId"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Code box"/>
          <p:cNvSpPr/>
          <p:nvPr/>
        </p:nvSpPr>
        <p:spPr>
          <a:xfrm>
            <a:off x="6199632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8" name="Code label"/>
          <p:cNvSpPr txBox="1"/>
          <p:nvPr/>
        </p:nvSpPr>
        <p:spPr>
          <a:xfrm>
            <a:off x="6400800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Response</a:t>
            </a:r>
            <a:endParaRPr lang="en-US" sz="1200" dirty="0"/>
          </a:p>
        </p:txBody>
      </p:sp>
      <p:sp>
        <p:nvSpPr>
          <p:cNvPr id="9" name="Code"/>
          <p:cNvSpPr txBox="1"/>
          <p:nvPr/>
        </p:nvSpPr>
        <p:spPr>
          <a:xfrm>
            <a:off x="6400800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"ORDER_NOT_FOUND"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order 42"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endpoint, one verb, HTTP 200 even for failures. Nothing for caches, proxies or monitoring to understand.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Level 1: resources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03 · RICHARDSON MATURITY MODEL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34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Introduces individual URIs per resource: divide and conquer</a:t>
            </a:r>
            <a:endParaRPr lang="en-US" sz="2200" dirty="0"/>
          </a:p>
          <a:p>
            <a:pPr marL="342900" indent="-342900">
              <a:spcAft>
                <a:spcPts val="2034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Identity is explicit, so links and bookmarks are possible</a:t>
            </a:r>
            <a:endParaRPr lang="en-US" sz="2200" dirty="0"/>
          </a:p>
          <a:p>
            <a:pPr marL="342900" indent="-342900">
              <a:spcAft>
                <a:spcPts val="2034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But the verb is still POST and the action is in the body</a:t>
            </a:r>
            <a:endParaRPr lang="en-US" sz="2200" dirty="0"/>
          </a:p>
          <a:p>
            <a:pPr marL="342900" indent="-342900">
              <a:spcAft>
                <a:spcPts val="2034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Errors are still often 200; no caching, no idempotent retries</a:t>
            </a:r>
            <a:endParaRPr lang="en-US" sz="22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4404360"/>
          </a:xfrm>
          <a:prstGeom prst="roundRect">
            <a:avLst>
              <a:gd name="adj" fmla="val 2076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Resource URIs, but everything is a POST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385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"get"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"cancel"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/customers/7/orders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"list"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Level 2: HTTP verbs and status codes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03 · RICHARDSON MATURITY MODEL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 each method for what it means: GET reads, POST creates, PUT replaces, PATCH changes, DELETE removes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Status codes tell the outcome; headers tell caches and clients what to do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Safe reads become cacheable; PUT and DELETE become safely retryable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where most production "REST" APIs live</a:t>
            </a:r>
            <a:endParaRPr lang="en-US" sz="22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154680"/>
          </a:xfrm>
          <a:prstGeom prst="roundRect">
            <a:avLst>
              <a:gd name="adj" fmla="val 2899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Same resource, different verbs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-&gt; 200 OK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/orders/999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-&gt; 404 Not Found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-&gt; 201 Created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-&gt; 200 OK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200 OK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-&gt; 204 No Content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-&gt; 404 Not Found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(or </a:t>
            </a:r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both are idempotent)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Level 3: hypermedia controls (HATEOAS)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03 · RICHARDSON MATURITY MODEL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548640" y="1508760"/>
            <a:ext cx="5440680" cy="3550920"/>
          </a:xfrm>
          <a:prstGeom prst="roundRect">
            <a:avLst>
              <a:gd name="adj" fmla="val 2575"/>
            </a:avLst>
          </a:prstGeom>
          <a:solidFill>
            <a:schemeClr val="tx1"/>
          </a:solidFill>
          <a:ln/>
        </p:spPr>
      </p:sp>
      <p:sp>
        <p:nvSpPr>
          <p:cNvPr id="5" name="Code label"/>
          <p:cNvSpPr txBox="1"/>
          <p:nvPr/>
        </p:nvSpPr>
        <p:spPr>
          <a:xfrm>
            <a:off x="749808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Request</a:t>
            </a:r>
            <a:endParaRPr lang="en-US" sz="1200" dirty="0"/>
          </a:p>
        </p:txBody>
      </p:sp>
      <p:sp>
        <p:nvSpPr>
          <p:cNvPr id="6" name="Code"/>
          <p:cNvSpPr txBox="1"/>
          <p:nvPr/>
        </p:nvSpPr>
        <p:spPr>
          <a:xfrm>
            <a:off x="749808" y="1965960"/>
            <a:ext cx="5038344" cy="300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api.example.com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application/hal+json</a:t>
            </a:r>
            <a:endParaRPr lang="en-US" sz="1400" dirty="0"/>
          </a:p>
        </p:txBody>
      </p:sp>
      <p:sp>
        <p:nvSpPr>
          <p:cNvPr id="7" name="Code box"/>
          <p:cNvSpPr/>
          <p:nvPr/>
        </p:nvSpPr>
        <p:spPr>
          <a:xfrm>
            <a:off x="6199632" y="1508760"/>
            <a:ext cx="5440680" cy="3550920"/>
          </a:xfrm>
          <a:prstGeom prst="roundRect">
            <a:avLst>
              <a:gd name="adj" fmla="val 2575"/>
            </a:avLst>
          </a:prstGeom>
          <a:solidFill>
            <a:schemeClr val="tx1"/>
          </a:solidFill>
          <a:ln/>
        </p:spPr>
      </p:sp>
      <p:sp>
        <p:nvSpPr>
          <p:cNvPr id="8" name="Code label"/>
          <p:cNvSpPr txBox="1"/>
          <p:nvPr/>
        </p:nvSpPr>
        <p:spPr>
          <a:xfrm>
            <a:off x="6400800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Response (HAL)</a:t>
            </a:r>
            <a:endParaRPr lang="en-US" sz="1200" dirty="0"/>
          </a:p>
        </p:txBody>
      </p:sp>
      <p:sp>
        <p:nvSpPr>
          <p:cNvPr id="9" name="Code"/>
          <p:cNvSpPr txBox="1"/>
          <p:nvPr/>
        </p:nvSpPr>
        <p:spPr>
          <a:xfrm>
            <a:off x="6400800" y="1965960"/>
            <a:ext cx="5038344" cy="300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99.90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"_links"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"self"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"href"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"/orders/42"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"customer"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"href"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"/customers/7"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"payment"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"href"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"/orders/42/payment"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"method"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"PUT"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"href"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"/orders/42"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"method"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"DELETE"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Links reflect state: once the order ships, the cancel link disappears. Clients follow links instead of building URIs.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Hypermedia formats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03 · RICHARDSON MATURITY MODEL</a:t>
            </a:r>
            <a:endParaRPr lang="en-US" sz="12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5330952"/>
              </a:tblGrid>
              <a:tr h="501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type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92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application/hal+json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Simple: _links and _embedded; widely supported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4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JSON:API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application/vnd.api+json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Opinionated: resource objects, relationships, pagination, errors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2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Siren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application/vnd.siren+json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 with actions: method, fields, type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4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 / JSON-LD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application/ld+json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Semantic-web vocabulary for describing operations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4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Collection+JSON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application/vnd.collection+json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Collections, items, queries and templates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4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header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(RFC 8288)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carried in HTTP headers; works with any body format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Which level should you target?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03 · RICHARDSON MATURITY MODEL</a:t>
            </a:r>
            <a:endParaRPr lang="en-US" sz="1200" dirty="0"/>
          </a:p>
        </p:txBody>
      </p:sp>
      <p:sp>
        <p:nvSpPr>
          <p:cNvPr id="4" name="Compare card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Compare header"/>
          <p:cNvSpPr/>
          <p:nvPr/>
        </p:nvSpPr>
        <p:spPr>
          <a:xfrm>
            <a:off x="548640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6" name="Compare title"/>
          <p:cNvSpPr txBox="1"/>
          <p:nvPr/>
        </p:nvSpPr>
        <p:spPr>
          <a:xfrm>
            <a:off x="777240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Why level 2 is the sweet spot</a:t>
            </a:r>
            <a:endParaRPr lang="en-US" sz="2200" dirty="0"/>
          </a:p>
        </p:txBody>
      </p:sp>
      <p:sp>
        <p:nvSpPr>
          <p:cNvPr id="7" name="Compare items"/>
          <p:cNvSpPr txBox="1"/>
          <p:nvPr/>
        </p:nvSpPr>
        <p:spPr>
          <a:xfrm>
            <a:off x="777240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Delivers most of REST's practical benefits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Works with every HTTP client, cache and gateway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Straightforward to document with OpenAPI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Hardcoded URIs are acceptable for a controlled set of clients</a:t>
            </a:r>
            <a:endParaRPr lang="en-US" sz="2000" dirty="0"/>
          </a:p>
        </p:txBody>
      </p:sp>
      <p:sp>
        <p:nvSpPr>
          <p:cNvPr id="8" name="Compare card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9" name="Compare header"/>
          <p:cNvSpPr/>
          <p:nvPr/>
        </p:nvSpPr>
        <p:spPr>
          <a:xfrm>
            <a:off x="6231636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10" name="Compare title"/>
          <p:cNvSpPr txBox="1"/>
          <p:nvPr/>
        </p:nvSpPr>
        <p:spPr>
          <a:xfrm>
            <a:off x="6460236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When level 3 pays off</a:t>
            </a:r>
            <a:endParaRPr lang="en-US" sz="2200" dirty="0"/>
          </a:p>
        </p:txBody>
      </p:sp>
      <p:sp>
        <p:nvSpPr>
          <p:cNvPr id="11" name="Compare items"/>
          <p:cNvSpPr txBox="1"/>
          <p:nvPr/>
        </p:nvSpPr>
        <p:spPr>
          <a:xfrm>
            <a:off x="6460236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Long-lived public APIs with many unknown clients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Workflows whose available actions depend on state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Servers that need freedom to move or rename URIs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Generic clients: browsers, crawlers, API explorers</a:t>
            </a:r>
            <a:endParaRPr lang="en-US" sz="2000" dirty="0"/>
          </a:p>
        </p:txBody>
      </p:sp>
      <p:sp>
        <p:nvSpPr>
          <p:cNvPr id="12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3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Level 3 is what Fielding calls REST. Level 2 is what most of the industry ships. Know what you are choosing.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HTTP methods and status codes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Using HTTP's semantics (RFC 9110) correctly is most of level 2</a:t>
            </a:r>
            <a:endParaRPr lang="en-US" sz="2200" dirty="0"/>
          </a:p>
        </p:txBody>
      </p:sp>
      <p:sp>
        <p:nvSpPr>
          <p:cNvPr id="5" name="Topic Methods"/>
          <p:cNvSpPr/>
          <p:nvPr/>
        </p:nvSpPr>
        <p:spPr>
          <a:xfrm>
            <a:off x="822960" y="493776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6" name="Topic text"/>
          <p:cNvSpPr txBox="1"/>
          <p:nvPr/>
        </p:nvSpPr>
        <p:spPr>
          <a:xfrm>
            <a:off x="822960" y="4937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Methods</a:t>
            </a:r>
            <a:endParaRPr lang="en-US" sz="1500" dirty="0"/>
          </a:p>
        </p:txBody>
      </p:sp>
      <p:sp>
        <p:nvSpPr>
          <p:cNvPr id="7" name="Topic Safe and idempotent"/>
          <p:cNvSpPr/>
          <p:nvPr/>
        </p:nvSpPr>
        <p:spPr>
          <a:xfrm>
            <a:off x="2286000" y="4937760"/>
            <a:ext cx="26289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8" name="Topic text"/>
          <p:cNvSpPr txBox="1"/>
          <p:nvPr/>
        </p:nvSpPr>
        <p:spPr>
          <a:xfrm>
            <a:off x="2286000" y="493776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Safe and idempotent</a:t>
            </a:r>
            <a:endParaRPr lang="en-US" sz="1500" dirty="0"/>
          </a:p>
        </p:txBody>
      </p:sp>
      <p:sp>
        <p:nvSpPr>
          <p:cNvPr id="9" name="Topic PUT vs PATCH"/>
          <p:cNvSpPr/>
          <p:nvPr/>
        </p:nvSpPr>
        <p:spPr>
          <a:xfrm>
            <a:off x="5097780" y="4937760"/>
            <a:ext cx="18288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0" name="Topic text"/>
          <p:cNvSpPr txBox="1"/>
          <p:nvPr/>
        </p:nvSpPr>
        <p:spPr>
          <a:xfrm>
            <a:off x="509778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PUT vs PATCH</a:t>
            </a:r>
            <a:endParaRPr lang="en-US" sz="1500" dirty="0"/>
          </a:p>
        </p:txBody>
      </p:sp>
      <p:sp>
        <p:nvSpPr>
          <p:cNvPr id="11" name="Topic Status codes"/>
          <p:cNvSpPr/>
          <p:nvPr/>
        </p:nvSpPr>
        <p:spPr>
          <a:xfrm>
            <a:off x="7109460" y="4937760"/>
            <a:ext cx="18288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2" name="Topic text"/>
          <p:cNvSpPr txBox="1"/>
          <p:nvPr/>
        </p:nvSpPr>
        <p:spPr>
          <a:xfrm>
            <a:off x="710946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Status codes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HTTP methods at a glance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graphicFrame>
        <p:nvGraphicFramePr>
          <p:cNvPr id="2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1188720"/>
                <a:gridCol w="1463040"/>
                <a:gridCol w="1554480"/>
                <a:gridCol w="1307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body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a representation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GET, headers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78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capabilities, CORS preflight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subordinate; process data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the resource at this URI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78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a partial modification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guaranteed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the resource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548640" y="574471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Safe: the client does not request a state change. Idempotent: N identical requests have the same intended effect as one (RFC 9110, section 9.2).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GET, HEAD and OPTIONS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5" name="Pill GET"/>
          <p:cNvSpPr/>
          <p:nvPr/>
        </p:nvSpPr>
        <p:spPr>
          <a:xfrm>
            <a:off x="768096" y="169164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6" name="Pill text GET"/>
          <p:cNvSpPr txBox="1"/>
          <p:nvPr/>
        </p:nvSpPr>
        <p:spPr>
          <a:xfrm>
            <a:off x="768096" y="1691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GET</a:t>
            </a:r>
            <a:endParaRPr lang="en-US" sz="1300" dirty="0"/>
          </a:p>
        </p:txBody>
      </p:sp>
      <p:sp>
        <p:nvSpPr>
          <p:cNvPr id="7" name="Card text 1"/>
          <p:cNvSpPr txBox="1"/>
          <p:nvPr/>
        </p:nvSpPr>
        <p:spPr>
          <a:xfrm>
            <a:off x="768096" y="2148840"/>
            <a:ext cx="31242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Read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Never changes state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Cacheable and bookmarkable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Parameters in the query string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Do not rely on a request body</a:t>
            </a:r>
            <a:endParaRPr lang="en-US" sz="2000" dirty="0"/>
          </a:p>
        </p:txBody>
      </p:sp>
      <p:sp>
        <p:nvSpPr>
          <p:cNvPr id="8" name="Card 2"/>
          <p:cNvSpPr/>
          <p:nvPr/>
        </p:nvSpPr>
        <p:spPr>
          <a:xfrm>
            <a:off x="431292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9" name="Pill HEAD"/>
          <p:cNvSpPr/>
          <p:nvPr/>
        </p:nvSpPr>
        <p:spPr>
          <a:xfrm>
            <a:off x="4532376" y="1691640"/>
            <a:ext cx="83210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Pill text HEAD"/>
          <p:cNvSpPr txBox="1"/>
          <p:nvPr/>
        </p:nvSpPr>
        <p:spPr>
          <a:xfrm>
            <a:off x="4532376" y="16916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HEAD</a:t>
            </a:r>
            <a:endParaRPr lang="en-US" sz="1300" dirty="0"/>
          </a:p>
        </p:txBody>
      </p:sp>
      <p:sp>
        <p:nvSpPr>
          <p:cNvPr id="11" name="Card text 2"/>
          <p:cNvSpPr txBox="1"/>
          <p:nvPr/>
        </p:nvSpPr>
        <p:spPr>
          <a:xfrm>
            <a:off x="4532376" y="2148840"/>
            <a:ext cx="31242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Metadata only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Same headers as GET, no body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Check existence, size or ETag cheaply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Cache validation without download</a:t>
            </a:r>
            <a:endParaRPr lang="en-US" sz="2000" dirty="0"/>
          </a:p>
        </p:txBody>
      </p:sp>
      <p:sp>
        <p:nvSpPr>
          <p:cNvPr id="12" name="Card 3"/>
          <p:cNvSpPr/>
          <p:nvPr/>
        </p:nvSpPr>
        <p:spPr>
          <a:xfrm>
            <a:off x="807720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13" name="Pill OPTIONS"/>
          <p:cNvSpPr/>
          <p:nvPr/>
        </p:nvSpPr>
        <p:spPr>
          <a:xfrm>
            <a:off x="8296656" y="1691640"/>
            <a:ext cx="1147572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4" name="Pill text OPTIONS"/>
          <p:cNvSpPr txBox="1"/>
          <p:nvPr/>
        </p:nvSpPr>
        <p:spPr>
          <a:xfrm>
            <a:off x="8296656" y="1691640"/>
            <a:ext cx="1147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OPTIONS</a:t>
            </a:r>
            <a:endParaRPr lang="en-US" sz="1300" dirty="0"/>
          </a:p>
        </p:txBody>
      </p:sp>
      <p:sp>
        <p:nvSpPr>
          <p:cNvPr id="15" name="Card text 3"/>
          <p:cNvSpPr txBox="1"/>
          <p:nvPr/>
        </p:nvSpPr>
        <p:spPr>
          <a:xfrm>
            <a:off x="8296656" y="2148840"/>
            <a:ext cx="31242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Capabilities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Returns Allow with supported methods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Browsers send it as the CORS preflight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Access-Control-Allow-* headers in the response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POST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Creates a new subordinate resource; the server chooses the URI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Success: 201 Created with a Location header (and usually the new representation)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Also used for actions and processing that do not map to other methods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Neither safe nor idempotent: duplicate submissions create duplicates; use an Idempotency-Key for retries</a:t>
            </a:r>
            <a:endParaRPr lang="en-US" sz="22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337560"/>
          </a:xfrm>
          <a:prstGeom prst="roundRect">
            <a:avLst>
              <a:gd name="adj" fmla="val 2740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Create an order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api.example.com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"customerId"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"items"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"sku"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"A-1001"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"quantity"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https://api.example.com/orders/43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Pill POST"/>
          <p:cNvSpPr/>
          <p:nvPr/>
        </p:nvSpPr>
        <p:spPr>
          <a:xfrm>
            <a:off x="10241280" y="658368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Pill text POST"/>
          <p:cNvSpPr txBox="1"/>
          <p:nvPr/>
        </p:nvSpPr>
        <p:spPr>
          <a:xfrm>
            <a:off x="10241280" y="65836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PUT vs PATCH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sp>
        <p:nvSpPr>
          <p:cNvPr id="4" name="Compare card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Compare header"/>
          <p:cNvSpPr/>
          <p:nvPr/>
        </p:nvSpPr>
        <p:spPr>
          <a:xfrm>
            <a:off x="548640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6" name="Compare title"/>
          <p:cNvSpPr txBox="1"/>
          <p:nvPr/>
        </p:nvSpPr>
        <p:spPr>
          <a:xfrm>
            <a:off x="777240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PUT: replace</a:t>
            </a:r>
            <a:endParaRPr lang="en-US" sz="2200" dirty="0"/>
          </a:p>
        </p:txBody>
      </p:sp>
      <p:sp>
        <p:nvSpPr>
          <p:cNvPr id="7" name="Compare items"/>
          <p:cNvSpPr txBox="1"/>
          <p:nvPr/>
        </p:nvSpPr>
        <p:spPr>
          <a:xfrm>
            <a:off x="777240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Sends the complete new representation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Idempotent by definition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Missing fields are reset or removed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Can create at a client-chosen URI (201) or update (200/204)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for whole-document replacement</a:t>
            </a:r>
            <a:endParaRPr lang="en-US" sz="1800" dirty="0"/>
          </a:p>
        </p:txBody>
      </p:sp>
      <p:sp>
        <p:nvSpPr>
          <p:cNvPr id="8" name="Compare card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9" name="Compare header"/>
          <p:cNvSpPr/>
          <p:nvPr/>
        </p:nvSpPr>
        <p:spPr>
          <a:xfrm>
            <a:off x="6231636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10" name="Compare title"/>
          <p:cNvSpPr txBox="1"/>
          <p:nvPr/>
        </p:nvSpPr>
        <p:spPr>
          <a:xfrm>
            <a:off x="6460236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PATCH: modify</a:t>
            </a:r>
            <a:endParaRPr lang="en-US" sz="2200" dirty="0"/>
          </a:p>
        </p:txBody>
      </p:sp>
      <p:sp>
        <p:nvSpPr>
          <p:cNvPr id="11" name="Compare items"/>
          <p:cNvSpPr txBox="1"/>
          <p:nvPr/>
        </p:nvSpPr>
        <p:spPr>
          <a:xfrm>
            <a:off x="6460236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Sends only the changes (RFC 5789)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guaranteed idempotent; depends on the patch format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JSON Merge Patch: application/merge-patch+json (RFC 7396)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JSON Patch: application/json-patch+json (RFC 6902)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for partial updates of large resources</a:t>
            </a:r>
            <a:endParaRPr lang="en-US" sz="1800" dirty="0"/>
          </a:p>
        </p:txBody>
      </p:sp>
      <p:sp>
        <p:nvSpPr>
          <p:cNvPr id="12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3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Never use PUT for partial updates: clients that omit a field will silently wipe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PATCH formats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5" name="Code label"/>
          <p:cNvSpPr txBox="1"/>
          <p:nvPr/>
        </p:nvSpPr>
        <p:spPr>
          <a:xfrm>
            <a:off x="749808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JSON Merge Patch</a:t>
            </a:r>
            <a:endParaRPr lang="en-US" sz="1200" dirty="0"/>
          </a:p>
        </p:txBody>
      </p:sp>
      <p:sp>
        <p:nvSpPr>
          <p:cNvPr id="6" name="Code"/>
          <p:cNvSpPr txBox="1"/>
          <p:nvPr/>
        </p:nvSpPr>
        <p:spPr>
          <a:xfrm>
            <a:off x="749808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/users/7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application/merge-patch+json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"phone"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Code box"/>
          <p:cNvSpPr/>
          <p:nvPr/>
        </p:nvSpPr>
        <p:spPr>
          <a:xfrm>
            <a:off x="6199632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8" name="Code label"/>
          <p:cNvSpPr txBox="1"/>
          <p:nvPr/>
        </p:nvSpPr>
        <p:spPr>
          <a:xfrm>
            <a:off x="6400800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JSON Patch</a:t>
            </a:r>
            <a:endParaRPr lang="en-US" sz="1200" dirty="0"/>
          </a:p>
        </p:txBody>
      </p:sp>
      <p:sp>
        <p:nvSpPr>
          <p:cNvPr id="9" name="Code"/>
          <p:cNvSpPr txBox="1"/>
          <p:nvPr/>
        </p:nvSpPr>
        <p:spPr>
          <a:xfrm>
            <a:off x="6400800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/users/7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application/json-patch+json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"replace"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"path"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"/name"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"remove"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"path"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"/phone"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10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Merge patch is simple (null removes a member) but cannot patch single array elements; JSON Patch is explicit and ordered.</a:t>
            </a:r>
            <a:endParaRPr lang="en-US" sz="1600" dirty="0"/>
          </a:p>
        </p:txBody>
      </p:sp>
      <p:sp>
        <p:nvSpPr>
          <p:cNvPr id="12" name="Pill PATCH"/>
          <p:cNvSpPr/>
          <p:nvPr/>
        </p:nvSpPr>
        <p:spPr>
          <a:xfrm>
            <a:off x="10241280" y="658368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3" name="Pill text PATCH"/>
          <p:cNvSpPr txBox="1"/>
          <p:nvPr/>
        </p:nvSpPr>
        <p:spPr>
          <a:xfrm>
            <a:off x="10241280" y="65836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DELETE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Removes the resource; idempotent: deleting twice leaves the same state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Success: 204 No Content (or 200 with a body, or 202 if deletion is asynchronous)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 repeated DELETE may return 404 or 204; both are acceptable, document which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soft deletion (a status or deletedAt field) when history matters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Avoid request bodies on DELETE and avoid bulk deletes through one URI</a:t>
            </a:r>
            <a:endParaRPr lang="en-US" sz="2400" dirty="0"/>
          </a:p>
        </p:txBody>
      </p:sp>
      <p:sp>
        <p:nvSpPr>
          <p:cNvPr id="5" name="Callout"/>
          <p:cNvSpPr/>
          <p:nvPr/>
        </p:nvSpPr>
        <p:spPr>
          <a:xfrm>
            <a:off x="7891272" y="1554480"/>
            <a:ext cx="3749040" cy="2453640"/>
          </a:xfrm>
          <a:prstGeom prst="roundRect">
            <a:avLst>
              <a:gd name="adj" fmla="val 4472"/>
            </a:avLst>
          </a:prstGeom>
          <a:solidFill>
            <a:schemeClr val="tx1"/>
          </a:solidFill>
          <a:ln/>
        </p:spPr>
      </p:sp>
      <p:sp>
        <p:nvSpPr>
          <p:cNvPr id="6" name="Callout text"/>
          <p:cNvSpPr txBox="1"/>
          <p:nvPr/>
        </p:nvSpPr>
        <p:spPr>
          <a:xfrm>
            <a:off x="8165592" y="1783080"/>
            <a:ext cx="3200400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Cascading effects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Define what happens to subordinate resources: cascade, block with 409 Conflict, or detach. Document it in the contract.</a:t>
            </a:r>
            <a:endParaRPr lang="en-US" sz="2200" dirty="0"/>
          </a:p>
        </p:txBody>
      </p:sp>
      <p:sp>
        <p:nvSpPr>
          <p:cNvPr id="7" name="Pill DELETE"/>
          <p:cNvSpPr/>
          <p:nvPr/>
        </p:nvSpPr>
        <p:spPr>
          <a:xfrm>
            <a:off x="10241280" y="658368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8" name="Pill text DELETE"/>
          <p:cNvSpPr txBox="1"/>
          <p:nvPr/>
        </p:nvSpPr>
        <p:spPr>
          <a:xfrm>
            <a:off x="10241280" y="65836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DELETE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Idempotency in practice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Networks fail: clients retry after timeouts and cannot tell whether the first attempt succeeded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GET, PUT and DELETE are safe to retry; POST is not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Idempotency-Key header (IETF draft): client sends a unique key per logical operation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Server stores key and response for a window (for example 24 hours) and replays it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Same key with a different payload is an error (409 or 422)</a:t>
            </a:r>
            <a:endParaRPr lang="en-US" sz="19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35280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Safe retry of a payment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280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/payments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api.example.com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Idempotency-Key: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8e03978e-40d5-43e8-bc93-6894a57f9324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"orderId"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"99.90"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network timeout, client retries with the same key 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/payments/9001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(same response as the first attempt; no second charge)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Status code classes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Pill 1xx"/>
          <p:cNvSpPr/>
          <p:nvPr/>
        </p:nvSpPr>
        <p:spPr>
          <a:xfrm>
            <a:off x="768096" y="169164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Pill text 1xx"/>
          <p:cNvSpPr txBox="1"/>
          <p:nvPr/>
        </p:nvSpPr>
        <p:spPr>
          <a:xfrm>
            <a:off x="768096" y="1691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1xx</a:t>
            </a:r>
            <a:endParaRPr lang="en-US" sz="1300" dirty="0"/>
          </a:p>
        </p:txBody>
      </p:sp>
      <p:sp>
        <p:nvSpPr>
          <p:cNvPr id="7" name="Card text 1"/>
          <p:cNvSpPr txBox="1"/>
          <p:nvPr/>
        </p:nvSpPr>
        <p:spPr>
          <a:xfrm>
            <a:off x="768096" y="2148840"/>
            <a:ext cx="161848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Informational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Interim: 100 Continue, 101 Switching Protocols, 103 Early Hints.</a:t>
            </a:r>
            <a:endParaRPr lang="en-US" sz="1700" dirty="0"/>
          </a:p>
        </p:txBody>
      </p:sp>
      <p:sp>
        <p:nvSpPr>
          <p:cNvPr id="8" name="Card 2"/>
          <p:cNvSpPr/>
          <p:nvPr/>
        </p:nvSpPr>
        <p:spPr>
          <a:xfrm>
            <a:off x="2807208" y="150876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Pill 2xx"/>
          <p:cNvSpPr/>
          <p:nvPr/>
        </p:nvSpPr>
        <p:spPr>
          <a:xfrm>
            <a:off x="3026664" y="169164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0" name="Pill text 2xx"/>
          <p:cNvSpPr txBox="1"/>
          <p:nvPr/>
        </p:nvSpPr>
        <p:spPr>
          <a:xfrm>
            <a:off x="3026664" y="1691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2xx</a:t>
            </a:r>
            <a:endParaRPr lang="en-US" sz="1300" dirty="0"/>
          </a:p>
        </p:txBody>
      </p:sp>
      <p:sp>
        <p:nvSpPr>
          <p:cNvPr id="11" name="Card text 2"/>
          <p:cNvSpPr txBox="1"/>
          <p:nvPr/>
        </p:nvSpPr>
        <p:spPr>
          <a:xfrm>
            <a:off x="3026664" y="2148840"/>
            <a:ext cx="161848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Success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request was received, understood and accepted.</a:t>
            </a:r>
            <a:endParaRPr lang="en-US" sz="1700" dirty="0"/>
          </a:p>
        </p:txBody>
      </p:sp>
      <p:sp>
        <p:nvSpPr>
          <p:cNvPr id="12" name="Card 3"/>
          <p:cNvSpPr/>
          <p:nvPr/>
        </p:nvSpPr>
        <p:spPr>
          <a:xfrm>
            <a:off x="5065776" y="150876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Pill 3xx"/>
          <p:cNvSpPr/>
          <p:nvPr/>
        </p:nvSpPr>
        <p:spPr>
          <a:xfrm>
            <a:off x="5285232" y="169164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4" name="Pill text 3xx"/>
          <p:cNvSpPr txBox="1"/>
          <p:nvPr/>
        </p:nvSpPr>
        <p:spPr>
          <a:xfrm>
            <a:off x="5285232" y="1691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3xx</a:t>
            </a:r>
            <a:endParaRPr lang="en-US" sz="1300" dirty="0"/>
          </a:p>
        </p:txBody>
      </p:sp>
      <p:sp>
        <p:nvSpPr>
          <p:cNvPr id="15" name="Card text 3"/>
          <p:cNvSpPr txBox="1"/>
          <p:nvPr/>
        </p:nvSpPr>
        <p:spPr>
          <a:xfrm>
            <a:off x="5285232" y="2148840"/>
            <a:ext cx="161848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Redirection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Further action is needed: moved, not modified, see other.</a:t>
            </a:r>
            <a:endParaRPr lang="en-US" sz="1700" dirty="0"/>
          </a:p>
        </p:txBody>
      </p:sp>
      <p:sp>
        <p:nvSpPr>
          <p:cNvPr id="16" name="Card 4"/>
          <p:cNvSpPr/>
          <p:nvPr/>
        </p:nvSpPr>
        <p:spPr>
          <a:xfrm>
            <a:off x="7324344" y="150876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7" name="Pill 4xx"/>
          <p:cNvSpPr/>
          <p:nvPr/>
        </p:nvSpPr>
        <p:spPr>
          <a:xfrm>
            <a:off x="7543800" y="169164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Pill text 4xx"/>
          <p:cNvSpPr txBox="1"/>
          <p:nvPr/>
        </p:nvSpPr>
        <p:spPr>
          <a:xfrm>
            <a:off x="7543800" y="1691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4xx</a:t>
            </a:r>
            <a:endParaRPr lang="en-US" sz="1300" dirty="0"/>
          </a:p>
        </p:txBody>
      </p:sp>
      <p:sp>
        <p:nvSpPr>
          <p:cNvPr id="19" name="Card text 4"/>
          <p:cNvSpPr txBox="1"/>
          <p:nvPr/>
        </p:nvSpPr>
        <p:spPr>
          <a:xfrm>
            <a:off x="7543800" y="2148840"/>
            <a:ext cx="161848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Client error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request is wrong: fix it before retrying.</a:t>
            </a:r>
            <a:endParaRPr lang="en-US" sz="1700" dirty="0"/>
          </a:p>
        </p:txBody>
      </p:sp>
      <p:sp>
        <p:nvSpPr>
          <p:cNvPr id="20" name="Card 5"/>
          <p:cNvSpPr/>
          <p:nvPr/>
        </p:nvSpPr>
        <p:spPr>
          <a:xfrm>
            <a:off x="9582912" y="150876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1" name="Pill 5xx"/>
          <p:cNvSpPr/>
          <p:nvPr/>
        </p:nvSpPr>
        <p:spPr>
          <a:xfrm>
            <a:off x="9802368" y="169164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2" name="Pill text 5xx"/>
          <p:cNvSpPr txBox="1"/>
          <p:nvPr/>
        </p:nvSpPr>
        <p:spPr>
          <a:xfrm>
            <a:off x="9802368" y="1691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5xx</a:t>
            </a:r>
            <a:endParaRPr lang="en-US" sz="1300" dirty="0"/>
          </a:p>
        </p:txBody>
      </p:sp>
      <p:sp>
        <p:nvSpPr>
          <p:cNvPr id="23" name="Card text 5"/>
          <p:cNvSpPr txBox="1"/>
          <p:nvPr/>
        </p:nvSpPr>
        <p:spPr>
          <a:xfrm>
            <a:off x="9802368" y="2148840"/>
            <a:ext cx="161848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Server error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server failed on a valid request: retrying may help.</a:t>
            </a:r>
            <a:endParaRPr lang="en-US" sz="1700" dirty="0"/>
          </a:p>
        </p:txBody>
      </p:sp>
      <p:sp>
        <p:nvSpPr>
          <p:cNvPr id="24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25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Never return 200 OK with an error in the body. Clients, caches and monitoring rely on the status 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Success and redirect codes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graphicFrame>
        <p:nvGraphicFramePr>
          <p:cNvPr id="3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6976872"/>
              </a:tblGrid>
              <a:tr h="492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in a REST API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GET, PUT or PATCH with a representation in the body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created a resource; send Location (and often the body)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85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for asynchronous processing; point to a status resource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Content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with no body: DELETE, PUT, PATCH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Other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processing, fetch the result with GET at another URI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Modified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GET: cached copy is still valid, no body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 Redirect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 move; the method and body must be repeated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Redirect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move; the method and body must be repeated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Client error codes (1/2)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graphicFrame>
        <p:nvGraphicFramePr>
          <p:cNvPr id="3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69768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63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Malformed syntax or a generic invalid request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3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 invalid credentials; send WWW-Authenticate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3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Authenticated, but not permitted to do this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81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such resource; also used to hide existence from the unauthorised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3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Not Allowed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unsupported on this resource; send Allow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3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Acceptable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produce any format listed in Accept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3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Permanently removed, for example a retired API version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548640" y="57129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401 means unauthenticated despite its name; 403 means authenticated but not authorised.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Client error codes (2/2)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graphicFrame>
        <p:nvGraphicFramePr>
          <p:cNvPr id="3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6976872"/>
              </a:tblGrid>
              <a:tr h="530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54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conflict: duplicate, version clash, invalid transition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Precondition Failed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If-Match or If-Unmodified-Since check failed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Media Type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Content-Type is not supported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Unprocessable Content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Well-formed but semantically invalid (validation errors)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Precondition Required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demands a conditional request (If-Match)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Requests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 exceeded; send Retry-After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400 vs 422 is a style choice: pick one convention for validation failures and apply it consistently.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Server error codes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04 · HTTP METHODS AND STATUS CODES</a:t>
            </a:r>
            <a:endParaRPr lang="en-US" sz="1200" dirty="0"/>
          </a:p>
        </p:txBody>
      </p:sp>
      <p:graphicFrame>
        <p:nvGraphicFramePr>
          <p:cNvPr id="3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69768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466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Server Error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failure; never leak stack traces or SQL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66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Implemented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server does not support the requested 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66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Gateway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gateway received an invalid response from upstream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66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Unavailable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Overloaded or in maintenance; send Retry-After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66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Timeout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gateway timed out waiting for the upstream service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548640" y="55651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Clients may retry 502, 503 and 504 with exponential backoff and jitter. Retry 500 only for idempotent requests.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HTTP headers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Headers carry the metadata that makes messages self-descriptive</a:t>
            </a:r>
            <a:endParaRPr lang="en-US" sz="2200" dirty="0"/>
          </a:p>
        </p:txBody>
      </p:sp>
      <p:sp>
        <p:nvSpPr>
          <p:cNvPr id="5" name="Topic Content negotiation"/>
          <p:cNvSpPr/>
          <p:nvPr/>
        </p:nvSpPr>
        <p:spPr>
          <a:xfrm>
            <a:off x="822960" y="4937760"/>
            <a:ext cx="26289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6" name="Topic text"/>
          <p:cNvSpPr txBox="1"/>
          <p:nvPr/>
        </p:nvSpPr>
        <p:spPr>
          <a:xfrm>
            <a:off x="822960" y="493776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Content negotiation</a:t>
            </a:r>
            <a:endParaRPr lang="en-US" sz="1500" dirty="0"/>
          </a:p>
        </p:txBody>
      </p:sp>
      <p:sp>
        <p:nvSpPr>
          <p:cNvPr id="7" name="Topic Caching"/>
          <p:cNvSpPr/>
          <p:nvPr/>
        </p:nvSpPr>
        <p:spPr>
          <a:xfrm>
            <a:off x="3634740" y="493776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8" name="Topic text"/>
          <p:cNvSpPr txBox="1"/>
          <p:nvPr/>
        </p:nvSpPr>
        <p:spPr>
          <a:xfrm>
            <a:off x="3634740" y="4937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Caching</a:t>
            </a:r>
            <a:endParaRPr lang="en-US" sz="1500" dirty="0"/>
          </a:p>
        </p:txBody>
      </p:sp>
      <p:sp>
        <p:nvSpPr>
          <p:cNvPr id="9" name="Topic Conditional requests"/>
          <p:cNvSpPr/>
          <p:nvPr/>
        </p:nvSpPr>
        <p:spPr>
          <a:xfrm>
            <a:off x="5097780" y="493776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0" name="Topic text"/>
          <p:cNvSpPr txBox="1"/>
          <p:nvPr/>
        </p:nvSpPr>
        <p:spPr>
          <a:xfrm>
            <a:off x="509778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Conditional requests</a:t>
            </a:r>
            <a:endParaRPr lang="en-US" sz="1500" dirty="0"/>
          </a:p>
        </p:txBody>
      </p:sp>
      <p:sp>
        <p:nvSpPr>
          <p:cNvPr id="11" name="Topic Security"/>
          <p:cNvSpPr/>
          <p:nvPr/>
        </p:nvSpPr>
        <p:spPr>
          <a:xfrm>
            <a:off x="8023860" y="4937760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2" name="Topic text"/>
          <p:cNvSpPr txBox="1"/>
          <p:nvPr/>
        </p:nvSpPr>
        <p:spPr>
          <a:xfrm>
            <a:off x="8023860" y="4937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Security</a:t>
            </a:r>
            <a:endParaRPr lang="en-US" sz="1500" dirty="0"/>
          </a:p>
        </p:txBody>
      </p:sp>
      <p:sp>
        <p:nvSpPr>
          <p:cNvPr id="13" name="Topic Control headers"/>
          <p:cNvSpPr/>
          <p:nvPr/>
        </p:nvSpPr>
        <p:spPr>
          <a:xfrm>
            <a:off x="822960" y="5504688"/>
            <a:ext cx="21717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4" name="Topic text"/>
          <p:cNvSpPr txBox="1"/>
          <p:nvPr/>
        </p:nvSpPr>
        <p:spPr>
          <a:xfrm>
            <a:off x="822960" y="5504688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Control headers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Headers at a glance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05 · HTTP HEADERS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Representation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Content-Type, Content-Length, Content-Encoding, Content-Language, Content-Location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Negotiation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Accept, Accept-Language, Accept-Encoding, Vary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Caching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Cache-Control, ETag, Last-Modified, Expires, Age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76809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Conditional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If-Match, If-None-Match, If-Modified-Since, If-Unmodified-Since</a:t>
            </a:r>
            <a:endParaRPr lang="en-US" sz="2000" dirty="0"/>
          </a:p>
        </p:txBody>
      </p:sp>
      <p:sp>
        <p:nvSpPr>
          <p:cNvPr id="12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Card text 5"/>
          <p:cNvSpPr txBox="1"/>
          <p:nvPr/>
        </p:nvSpPr>
        <p:spPr>
          <a:xfrm>
            <a:off x="453237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Authentication and security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Authorization, WWW-Authenticate, Strict-Transport-Security, CORS headers</a:t>
            </a:r>
            <a:endParaRPr lang="en-US" sz="2000" dirty="0"/>
          </a:p>
        </p:txBody>
      </p:sp>
      <p:sp>
        <p:nvSpPr>
          <p:cNvPr id="1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ard text 6"/>
          <p:cNvSpPr txBox="1"/>
          <p:nvPr/>
        </p:nvSpPr>
        <p:spPr>
          <a:xfrm>
            <a:off x="829665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Control and hypermedia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Location, Link, Allow, Retry-After, Prefer, RateLimit, Idempotency-Key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Content negotiation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05 · HTTP HEADERS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5" name="Code label"/>
          <p:cNvSpPr txBox="1"/>
          <p:nvPr/>
        </p:nvSpPr>
        <p:spPr>
          <a:xfrm>
            <a:off x="749808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Request</a:t>
            </a:r>
            <a:endParaRPr lang="en-US" sz="1200" dirty="0"/>
          </a:p>
        </p:txBody>
      </p:sp>
      <p:sp>
        <p:nvSpPr>
          <p:cNvPr id="6" name="Code"/>
          <p:cNvSpPr txBox="1"/>
          <p:nvPr/>
        </p:nvSpPr>
        <p:spPr>
          <a:xfrm>
            <a:off x="749808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/products/5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api.example.com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application/json, application/xml;q=0.5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Accept-Language: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sr, en;q=0.7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Accept-Encoding: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gzip, br</a:t>
            </a:r>
            <a:endParaRPr lang="en-US" sz="1400" dirty="0"/>
          </a:p>
        </p:txBody>
      </p:sp>
      <p:sp>
        <p:nvSpPr>
          <p:cNvPr id="7" name="Code box"/>
          <p:cNvSpPr/>
          <p:nvPr/>
        </p:nvSpPr>
        <p:spPr>
          <a:xfrm>
            <a:off x="6199632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8" name="Code label"/>
          <p:cNvSpPr txBox="1"/>
          <p:nvPr/>
        </p:nvSpPr>
        <p:spPr>
          <a:xfrm>
            <a:off x="6400800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Response</a:t>
            </a:r>
            <a:endParaRPr lang="en-US" sz="1200" dirty="0"/>
          </a:p>
        </p:txBody>
      </p:sp>
      <p:sp>
        <p:nvSpPr>
          <p:cNvPr id="9" name="Code"/>
          <p:cNvSpPr txBox="1"/>
          <p:nvPr/>
        </p:nvSpPr>
        <p:spPr>
          <a:xfrm>
            <a:off x="6400800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application/json; charset=utf-8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Content-Language: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Content-Encoding: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Vary: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Accept, Accept-Language, Accept-Encoding</a:t>
            </a:r>
            <a:endParaRPr lang="en-US" sz="1400" dirty="0"/>
          </a:p>
        </p:txBody>
      </p:sp>
      <p:sp>
        <p:nvSpPr>
          <p:cNvPr id="10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406 Not Acceptable: nothing matches Accept. 415 Unsupported Media Type: the request body format is unsupported. Always send Vary so caches key on the negotiated headers.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Caching headers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05 · HTTP HEADERS</a:t>
            </a:r>
            <a:endParaRPr lang="en-US" sz="1200" dirty="0"/>
          </a:p>
        </p:txBody>
      </p:sp>
      <p:graphicFrame>
        <p:nvGraphicFramePr>
          <p:cNvPr id="4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39512"/>
              </a:tblGrid>
              <a:tr h="501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94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Cache-Control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max-age=60, private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lifetime and who may cache; also no-cache, no-store, s-maxage, immutable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4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"v8"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validator for this representation version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2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Last-Modified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Tue, 06 Oct 2026 10:00:00 GMT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Time-based validator; coarser than ETag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4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Wed, 07 Oct 2026 10:00:00 GMT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absolute expiry; max-age takes precedence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2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Accept-Encoding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headers that select the representation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4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the response has already spent in caches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Caching strategies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05 · HTTP HEADERS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5445252" cy="1865376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50063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public, max-age=3600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Reference data shared by all users (countries, currencies, product catalog). CDN and browser caching.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6195060" y="1508760"/>
            <a:ext cx="5445252" cy="1865376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6414516" y="1691640"/>
            <a:ext cx="50063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private, no-cache + ETag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Per-user data that must stay fresh. Cache stores a copy but revalidates every time; 304 saves bandwidth.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548640" y="3575304"/>
            <a:ext cx="5445252" cy="1865376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768096" y="3758184"/>
            <a:ext cx="50063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no-store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Sensitive responses (tokens, personal or financial data). Nothing is written to any cache.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6195060" y="3575304"/>
            <a:ext cx="5445252" cy="1865376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6414516" y="3758184"/>
            <a:ext cx="50063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public, max-age=31536000, immutable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Versioned, content-addressed assets: the URL changes when the content changes.</a:t>
            </a:r>
            <a:endParaRPr lang="en-US" sz="2000" dirty="0"/>
          </a:p>
        </p:txBody>
      </p:sp>
      <p:sp>
        <p:nvSpPr>
          <p:cNvPr id="12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3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 responses are rarely cached; design GET endpoints so that caching is safe and effective.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Conditional requests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05 · HTTP HEADERS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5" name="Code label"/>
          <p:cNvSpPr txBox="1"/>
          <p:nvPr/>
        </p:nvSpPr>
        <p:spPr>
          <a:xfrm>
            <a:off x="749808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Revalidation (If-None-Match)</a:t>
            </a:r>
            <a:endParaRPr lang="en-US" sz="1200" dirty="0"/>
          </a:p>
        </p:txBody>
      </p:sp>
      <p:sp>
        <p:nvSpPr>
          <p:cNvPr id="6" name="Code"/>
          <p:cNvSpPr txBox="1"/>
          <p:nvPr/>
        </p:nvSpPr>
        <p:spPr>
          <a:xfrm>
            <a:off x="749808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/products/5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If-None-Match: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"v8"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304 Not Modified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"v8"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Cache-Control: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max-age=60</a:t>
            </a:r>
            <a:endParaRPr lang="en-US" sz="1700" dirty="0"/>
          </a:p>
        </p:txBody>
      </p:sp>
      <p:sp>
        <p:nvSpPr>
          <p:cNvPr id="7" name="Code box"/>
          <p:cNvSpPr/>
          <p:nvPr/>
        </p:nvSpPr>
        <p:spPr>
          <a:xfrm>
            <a:off x="6199632" y="1508760"/>
            <a:ext cx="5440680" cy="292608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</p:sp>
      <p:sp>
        <p:nvSpPr>
          <p:cNvPr id="8" name="Code label"/>
          <p:cNvSpPr txBox="1"/>
          <p:nvPr/>
        </p:nvSpPr>
        <p:spPr>
          <a:xfrm>
            <a:off x="6400800" y="16184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Optimistic locking (If-Match)</a:t>
            </a:r>
            <a:endParaRPr lang="en-US" sz="1200" dirty="0"/>
          </a:p>
        </p:txBody>
      </p:sp>
      <p:sp>
        <p:nvSpPr>
          <p:cNvPr id="9" name="Code"/>
          <p:cNvSpPr txBox="1"/>
          <p:nvPr/>
        </p:nvSpPr>
        <p:spPr>
          <a:xfrm>
            <a:off x="6400800" y="1965960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/products/5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If-Match: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"v7"</a:t>
            </a:r>
            <a:endParaRPr lang="en-US" sz="17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"price"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19.90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 Precondition Failed</a:t>
            </a:r>
            <a:endParaRPr lang="en-US" sz="1700" dirty="0"/>
          </a:p>
        </p:txBody>
      </p:sp>
      <p:sp>
        <p:nvSpPr>
          <p:cNvPr id="10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If-Match prevents the lost-update problem. Servers can enforce it with 428 Precondition Required.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Authentication and security headers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05 · HTTP HEADERS</a:t>
            </a:r>
            <a:endParaRPr lang="en-US" sz="1200" dirty="0"/>
          </a:p>
        </p:txBody>
      </p:sp>
      <p:graphicFrame>
        <p:nvGraphicFramePr>
          <p:cNvPr id="4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33672"/>
              </a:tblGrid>
              <a:tr h="4901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3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eyJhbGci...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2.0 bearer token (RFC 6750); preferred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3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dXNlcjpwYXNz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over TLS; avoid for user-facing 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55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WWW-Authenticate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error="invalid_token"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Accompanies 401; tells the client how to authenticate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3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Strict-Transport-Security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max-age=31536000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 HTTPS for future requests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X-Content-Type-Options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nosniff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MIME sniffing of API responses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55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Access-Control-Allow-Origin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https://app.example.com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CORS: use an explicit allowlist, not 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Cache-Control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sensitive responses out of caches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Never put tokens or API keys in the URL: query strings end up in logs, history and referrers.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Control and hypermedia headers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05 · HTTP HEADERS</a:t>
            </a:r>
            <a:endParaRPr lang="en-US" sz="1200" dirty="0"/>
          </a:p>
        </p:txBody>
      </p:sp>
      <p:graphicFrame>
        <p:nvGraphicFramePr>
          <p:cNvPr id="4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519672"/>
              </a:tblGrid>
              <a:tr h="477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with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201, 202, 3xx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 of the created resource, status monitor or redirect target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links (rel="next", "prev", "deprecation"), RFC 8288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405, OPTIONS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supported on the resource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Retry-After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429, 503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or HTTP date after which to retry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request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return=minimal or representation, respond-async (RFC 7240)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RateLimit-*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response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Quota, remaining and reset (IETF draft; X-RateLimit-* still common)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Idempotency-Key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POST, PATCH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Client-chosen key to make retries safe (IETF draft)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18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traceparent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request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Trace Context: correlates a request across services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Design best practices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Consistent, predictable, secure and fast APIs</a:t>
            </a:r>
            <a:endParaRPr lang="en-US" sz="2200" dirty="0"/>
          </a:p>
        </p:txBody>
      </p:sp>
      <p:sp>
        <p:nvSpPr>
          <p:cNvPr id="5" name="Topic URIs and naming"/>
          <p:cNvSpPr/>
          <p:nvPr/>
        </p:nvSpPr>
        <p:spPr>
          <a:xfrm>
            <a:off x="822960" y="4937760"/>
            <a:ext cx="21717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6" name="Topic text"/>
          <p:cNvSpPr txBox="1"/>
          <p:nvPr/>
        </p:nvSpPr>
        <p:spPr>
          <a:xfrm>
            <a:off x="822960" y="493776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URIs and naming</a:t>
            </a:r>
            <a:endParaRPr lang="en-US" sz="1500" dirty="0"/>
          </a:p>
        </p:txBody>
      </p:sp>
      <p:sp>
        <p:nvSpPr>
          <p:cNvPr id="7" name="Topic Pagination and filtering"/>
          <p:cNvSpPr/>
          <p:nvPr/>
        </p:nvSpPr>
        <p:spPr>
          <a:xfrm>
            <a:off x="3177540" y="4937760"/>
            <a:ext cx="32004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8" name="Topic text"/>
          <p:cNvSpPr txBox="1"/>
          <p:nvPr/>
        </p:nvSpPr>
        <p:spPr>
          <a:xfrm>
            <a:off x="3177540" y="4937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Pagination and filtering</a:t>
            </a:r>
            <a:endParaRPr lang="en-US" sz="1500" dirty="0"/>
          </a:p>
        </p:txBody>
      </p:sp>
      <p:sp>
        <p:nvSpPr>
          <p:cNvPr id="9" name="Topic Errors"/>
          <p:cNvSpPr/>
          <p:nvPr/>
        </p:nvSpPr>
        <p:spPr>
          <a:xfrm>
            <a:off x="6560820" y="493776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0" name="Topic text"/>
          <p:cNvSpPr txBox="1"/>
          <p:nvPr/>
        </p:nvSpPr>
        <p:spPr>
          <a:xfrm>
            <a:off x="6560820" y="4937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Errors</a:t>
            </a:r>
            <a:endParaRPr lang="en-US" sz="1500" dirty="0"/>
          </a:p>
        </p:txBody>
      </p:sp>
      <p:sp>
        <p:nvSpPr>
          <p:cNvPr id="11" name="Topic Security"/>
          <p:cNvSpPr/>
          <p:nvPr/>
        </p:nvSpPr>
        <p:spPr>
          <a:xfrm>
            <a:off x="8023860" y="4937760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2" name="Topic text"/>
          <p:cNvSpPr txBox="1"/>
          <p:nvPr/>
        </p:nvSpPr>
        <p:spPr>
          <a:xfrm>
            <a:off x="8023860" y="4937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Security</a:t>
            </a:r>
            <a:endParaRPr lang="en-US" sz="1500" dirty="0"/>
          </a:p>
        </p:txBody>
      </p:sp>
      <p:sp>
        <p:nvSpPr>
          <p:cNvPr id="13" name="Topic Performance"/>
          <p:cNvSpPr/>
          <p:nvPr/>
        </p:nvSpPr>
        <p:spPr>
          <a:xfrm>
            <a:off x="9578340" y="4937760"/>
            <a:ext cx="17145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4" name="Topic text"/>
          <p:cNvSpPr txBox="1"/>
          <p:nvPr/>
        </p:nvSpPr>
        <p:spPr>
          <a:xfrm>
            <a:off x="9578340" y="4937760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Performance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URI design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Compare card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Compare header"/>
          <p:cNvSpPr/>
          <p:nvPr/>
        </p:nvSpPr>
        <p:spPr>
          <a:xfrm>
            <a:off x="548640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6" name="Compare title"/>
          <p:cNvSpPr txBox="1"/>
          <p:nvPr/>
        </p:nvSpPr>
        <p:spPr>
          <a:xfrm>
            <a:off x="777240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Do</a:t>
            </a:r>
            <a:endParaRPr lang="en-US" sz="2200" dirty="0"/>
          </a:p>
        </p:txBody>
      </p:sp>
      <p:sp>
        <p:nvSpPr>
          <p:cNvPr id="7" name="Compare items"/>
          <p:cNvSpPr txBox="1"/>
          <p:nvPr/>
        </p:nvSpPr>
        <p:spPr>
          <a:xfrm>
            <a:off x="777240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Nouns, plural collections: /orders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Hierarchy for ownership: /customers/7/orders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Lowercase with hyphens: /order-items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Stable, opaque identifiers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nesting to two levels; link beyond that</a:t>
            </a:r>
            <a:endParaRPr lang="en-US" sz="2000" dirty="0"/>
          </a:p>
        </p:txBody>
      </p:sp>
      <p:sp>
        <p:nvSpPr>
          <p:cNvPr id="8" name="Compare card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9" name="Compare header"/>
          <p:cNvSpPr/>
          <p:nvPr/>
        </p:nvSpPr>
        <p:spPr>
          <a:xfrm>
            <a:off x="6231636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10" name="Compare title"/>
          <p:cNvSpPr txBox="1"/>
          <p:nvPr/>
        </p:nvSpPr>
        <p:spPr>
          <a:xfrm>
            <a:off x="6460236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Don't</a:t>
            </a:r>
            <a:endParaRPr lang="en-US" sz="2200" dirty="0"/>
          </a:p>
        </p:txBody>
      </p:sp>
      <p:sp>
        <p:nvSpPr>
          <p:cNvPr id="11" name="Compare items"/>
          <p:cNvSpPr txBox="1"/>
          <p:nvPr/>
        </p:nvSpPr>
        <p:spPr>
          <a:xfrm>
            <a:off x="6460236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Verbs in paths: /getOrder, /createUser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Mixed case, underscores, trailing slashes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File extensions: /orders.json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Deep nesting: /a/1/b/2/c/3/d/4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Database internals: /tbl_orders?id=42</a:t>
            </a:r>
            <a:endParaRPr lang="en-US" sz="2000" dirty="0"/>
          </a:p>
        </p:txBody>
      </p:sp>
      <p:sp>
        <p:nvSpPr>
          <p:cNvPr id="12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3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 URI identifies the resource; the HTTP method says what to do with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Naming and modelling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38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Pick one convention and apply it everywhere: plural nouns, one JSON casing (camelCase or snake_case)</a:t>
            </a:r>
            <a:endParaRPr lang="en-US" sz="2000" dirty="0"/>
          </a:p>
          <a:p>
            <a:pPr marL="342900" indent="-342900">
              <a:spcAft>
                <a:spcPts val="1238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Model domain concepts, not tables; hide persistence details</a:t>
            </a:r>
            <a:endParaRPr lang="en-US" sz="2000" dirty="0"/>
          </a:p>
          <a:p>
            <a:pPr marL="342900" indent="-342900">
              <a:spcAft>
                <a:spcPts val="1238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Actions that do not fit CRUD: model them as resources (POST /orders/42/cancellation) or as state changes (PATCH status)</a:t>
            </a:r>
            <a:endParaRPr lang="en-US" sz="2000" dirty="0"/>
          </a:p>
          <a:p>
            <a:pPr marL="342900" indent="-342900">
              <a:spcAft>
                <a:spcPts val="1238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Custom methods are acceptable when needed, for example Google style POST /orders/42:cancel; document them</a:t>
            </a:r>
            <a:endParaRPr lang="en-US" sz="2000" dirty="0"/>
          </a:p>
          <a:p>
            <a:pPr marL="342900" indent="-342900">
              <a:spcAft>
                <a:spcPts val="1238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consistent names for the same concept across endpoints (customerId, never custId in one place)</a:t>
            </a:r>
            <a:endParaRPr lang="en-US" sz="2000" dirty="0"/>
          </a:p>
        </p:txBody>
      </p:sp>
      <p:sp>
        <p:nvSpPr>
          <p:cNvPr id="5" name="Callout"/>
          <p:cNvSpPr/>
          <p:nvPr/>
        </p:nvSpPr>
        <p:spPr>
          <a:xfrm>
            <a:off x="7891272" y="1554480"/>
            <a:ext cx="374904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Callout text"/>
          <p:cNvSpPr txBox="1"/>
          <p:nvPr/>
        </p:nvSpPr>
        <p:spPr>
          <a:xfrm>
            <a:off x="8165592" y="17830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Predictability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A developer who has seen two endpoints should be able to guess the third.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Pagination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Offset/limit: ?offset=40&amp;limit=20. Simple, allows jumping; slow and unstable on large, changing data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Cursor (keyset): ?after=abc&amp;limit=20. Stable and fast, no random page access; cursors are opaque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Always cap limit, with a sensible default and maximum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Navigate with Link headers (rel=next, prev) or a links object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Total counts are expensive; make them optional</a:t>
            </a:r>
            <a:endParaRPr lang="en-US" sz="20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Cursor pagination response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&lt;https://api.example.com/orders?after=abc&amp;limit=20&gt;;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rel=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"next"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"page"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"limit"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"next"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Filtering, sorting, field selection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Filter with query parameters named after fields; document operators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Sort with sort=field; a leading minus means descending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Sparse fieldsets (fields=) cut payload size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expand= embeds related resources and avoids N+1 round trips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Whitelist filterable and sortable fields; index them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Complex search: a documented query syntax or POST /orders/search</a:t>
            </a:r>
            <a:endParaRPr lang="en-US" sz="20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Query conventions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/orders?status=shipped&amp;created_after=2026-01-01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/orders?sort=-created_at,total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/orders?fields=id,status,total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/orders/42?expand=customer,items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/products?q=laptop&amp;price_max=1500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Error handling: RFC 9457 problem details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One error shape across the whole API, with media type application/problem+json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type (URI), title, status, detail and instance are standard members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Extension members carry field-level errors and a trace id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Status code in the body must match the HTTP status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Never expose stack traces, SQL or internal hostnames</a:t>
            </a:r>
            <a:endParaRPr lang="en-US" sz="20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749040"/>
          </a:xfrm>
          <a:prstGeom prst="roundRect">
            <a:avLst>
              <a:gd name="adj" fmla="val 2439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Validation failure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 Unprocessable Content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application/problem+json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"https://api.example.com/problems/validation"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"Request validation failed"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"detail"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 field is invalid"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"instance"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"/orders"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"errors"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"pointer"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"/items/0/quantity"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"must be at least 1"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"traceId"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"4bf92f3577b34da6"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Payload conventions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JSON by default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UTF-8, RFC 8259. Return an object at the top level, not a bare array, so you can add fields later.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Dates and times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RFC 3339 / ISO 8601, in UTC: 2026-10-11T14:30:00Z.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Identifiers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Opaque strings or UUIDs. Avoid exposing sequential integers on public APIs.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76809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Money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Decimal strings or integer minor units plus an ISO 4217 currency code. Never floats.</a:t>
            </a:r>
            <a:endParaRPr lang="en-US" sz="2000" dirty="0"/>
          </a:p>
        </p:txBody>
      </p:sp>
      <p:sp>
        <p:nvSpPr>
          <p:cNvPr id="12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Card text 5"/>
          <p:cNvSpPr txBox="1"/>
          <p:nvPr/>
        </p:nvSpPr>
        <p:spPr>
          <a:xfrm>
            <a:off x="453237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Null vs absent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Define the semantics. In merge patch, null means remove.</a:t>
            </a:r>
            <a:endParaRPr lang="en-US" sz="2000" dirty="0"/>
          </a:p>
        </p:txBody>
      </p:sp>
      <p:sp>
        <p:nvSpPr>
          <p:cNvPr id="1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ard text 6"/>
          <p:cNvSpPr txBox="1"/>
          <p:nvPr/>
        </p:nvSpPr>
        <p:spPr>
          <a:xfrm>
            <a:off x="829665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Enums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Strings, documented, and treated as open sets by clients.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Long-running operations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Step row 1"/>
          <p:cNvSpPr/>
          <p:nvPr/>
        </p:nvSpPr>
        <p:spPr>
          <a:xfrm>
            <a:off x="548640" y="1508760"/>
            <a:ext cx="11091672" cy="886968"/>
          </a:xfrm>
          <a:prstGeom prst="roundRect">
            <a:avLst>
              <a:gd name="adj" fmla="val 12371"/>
            </a:avLst>
          </a:prstGeom>
          <a:solidFill>
            <a:schemeClr val="bg2"/>
          </a:solidFill>
          <a:ln/>
        </p:spPr>
      </p:sp>
      <p:sp>
        <p:nvSpPr>
          <p:cNvPr id="5" name="Step badge"/>
          <p:cNvSpPr/>
          <p:nvPr/>
        </p:nvSpPr>
        <p:spPr>
          <a:xfrm>
            <a:off x="777240" y="171450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 number"/>
          <p:cNvSpPr txBox="1"/>
          <p:nvPr/>
        </p:nvSpPr>
        <p:spPr>
          <a:xfrm>
            <a:off x="777240" y="17145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ep title"/>
          <p:cNvSpPr txBox="1"/>
          <p:nvPr/>
        </p:nvSpPr>
        <p:spPr>
          <a:xfrm>
            <a:off x="1508760" y="1508760"/>
            <a:ext cx="2743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Submit</a:t>
            </a:r>
            <a:endParaRPr lang="en-US" sz="2100" dirty="0"/>
          </a:p>
        </p:txBody>
      </p:sp>
      <p:sp>
        <p:nvSpPr>
          <p:cNvPr id="8" name="Step text"/>
          <p:cNvSpPr txBox="1"/>
          <p:nvPr/>
        </p:nvSpPr>
        <p:spPr>
          <a:xfrm>
            <a:off x="4389120" y="1508760"/>
            <a:ext cx="70225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POST /reports returns 202 Accepted with Location: /jobs/123.</a:t>
            </a:r>
            <a:endParaRPr lang="en-US" sz="1800" dirty="0"/>
          </a:p>
        </p:txBody>
      </p:sp>
      <p:sp>
        <p:nvSpPr>
          <p:cNvPr id="9" name="Step row 2"/>
          <p:cNvSpPr/>
          <p:nvPr/>
        </p:nvSpPr>
        <p:spPr>
          <a:xfrm>
            <a:off x="548640" y="2523744"/>
            <a:ext cx="11091672" cy="886968"/>
          </a:xfrm>
          <a:prstGeom prst="roundRect">
            <a:avLst>
              <a:gd name="adj" fmla="val 12371"/>
            </a:avLst>
          </a:prstGeom>
          <a:solidFill>
            <a:schemeClr val="bg2"/>
          </a:solidFill>
          <a:ln/>
        </p:spPr>
      </p:sp>
      <p:sp>
        <p:nvSpPr>
          <p:cNvPr id="10" name="Step badge"/>
          <p:cNvSpPr/>
          <p:nvPr/>
        </p:nvSpPr>
        <p:spPr>
          <a:xfrm>
            <a:off x="777240" y="272948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"/>
          <p:cNvSpPr txBox="1"/>
          <p:nvPr/>
        </p:nvSpPr>
        <p:spPr>
          <a:xfrm>
            <a:off x="777240" y="27294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tep title"/>
          <p:cNvSpPr txBox="1"/>
          <p:nvPr/>
        </p:nvSpPr>
        <p:spPr>
          <a:xfrm>
            <a:off x="1508760" y="2523744"/>
            <a:ext cx="2743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Poll</a:t>
            </a:r>
            <a:endParaRPr lang="en-US" sz="2100" dirty="0"/>
          </a:p>
        </p:txBody>
      </p:sp>
      <p:sp>
        <p:nvSpPr>
          <p:cNvPr id="13" name="Step text"/>
          <p:cNvSpPr txBox="1"/>
          <p:nvPr/>
        </p:nvSpPr>
        <p:spPr>
          <a:xfrm>
            <a:off x="4389120" y="2523744"/>
            <a:ext cx="70225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GET /jobs/123 returns 200 with status and progress; honour Retry-After.</a:t>
            </a:r>
            <a:endParaRPr lang="en-US" sz="1800" dirty="0"/>
          </a:p>
        </p:txBody>
      </p:sp>
      <p:sp>
        <p:nvSpPr>
          <p:cNvPr id="14" name="Step row 3"/>
          <p:cNvSpPr/>
          <p:nvPr/>
        </p:nvSpPr>
        <p:spPr>
          <a:xfrm>
            <a:off x="548640" y="3538728"/>
            <a:ext cx="11091672" cy="886968"/>
          </a:xfrm>
          <a:prstGeom prst="roundRect">
            <a:avLst>
              <a:gd name="adj" fmla="val 12371"/>
            </a:avLst>
          </a:prstGeom>
          <a:solidFill>
            <a:schemeClr val="bg2"/>
          </a:solidFill>
          <a:ln/>
        </p:spPr>
      </p:sp>
      <p:sp>
        <p:nvSpPr>
          <p:cNvPr id="15" name="Step badge"/>
          <p:cNvSpPr/>
          <p:nvPr/>
        </p:nvSpPr>
        <p:spPr>
          <a:xfrm>
            <a:off x="777240" y="37444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ber"/>
          <p:cNvSpPr txBox="1"/>
          <p:nvPr/>
        </p:nvSpPr>
        <p:spPr>
          <a:xfrm>
            <a:off x="777240" y="37444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tep title"/>
          <p:cNvSpPr txBox="1"/>
          <p:nvPr/>
        </p:nvSpPr>
        <p:spPr>
          <a:xfrm>
            <a:off x="1508760" y="3538728"/>
            <a:ext cx="2743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Complete</a:t>
            </a:r>
            <a:endParaRPr lang="en-US" sz="2100" dirty="0"/>
          </a:p>
        </p:txBody>
      </p:sp>
      <p:sp>
        <p:nvSpPr>
          <p:cNvPr id="18" name="Step text"/>
          <p:cNvSpPr txBox="1"/>
          <p:nvPr/>
        </p:nvSpPr>
        <p:spPr>
          <a:xfrm>
            <a:off x="4389120" y="3538728"/>
            <a:ext cx="70225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Finished job returns 303 See Other pointing to the result, or embeds a link to it.</a:t>
            </a:r>
            <a:endParaRPr lang="en-US" sz="1800" dirty="0"/>
          </a:p>
        </p:txBody>
      </p:sp>
      <p:sp>
        <p:nvSpPr>
          <p:cNvPr id="19" name="Step row 4"/>
          <p:cNvSpPr/>
          <p:nvPr/>
        </p:nvSpPr>
        <p:spPr>
          <a:xfrm>
            <a:off x="548640" y="4553712"/>
            <a:ext cx="11091672" cy="886968"/>
          </a:xfrm>
          <a:prstGeom prst="roundRect">
            <a:avLst>
              <a:gd name="adj" fmla="val 12371"/>
            </a:avLst>
          </a:prstGeom>
          <a:solidFill>
            <a:schemeClr val="bg2"/>
          </a:solidFill>
          <a:ln/>
        </p:spPr>
      </p:sp>
      <p:sp>
        <p:nvSpPr>
          <p:cNvPr id="20" name="Step badge"/>
          <p:cNvSpPr/>
          <p:nvPr/>
        </p:nvSpPr>
        <p:spPr>
          <a:xfrm>
            <a:off x="777240" y="475945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 number"/>
          <p:cNvSpPr txBox="1"/>
          <p:nvPr/>
        </p:nvSpPr>
        <p:spPr>
          <a:xfrm>
            <a:off x="777240" y="47594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Step title"/>
          <p:cNvSpPr txBox="1"/>
          <p:nvPr/>
        </p:nvSpPr>
        <p:spPr>
          <a:xfrm>
            <a:off x="1508760" y="4553712"/>
            <a:ext cx="2743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Cancel</a:t>
            </a:r>
            <a:endParaRPr lang="en-US" sz="2100" dirty="0"/>
          </a:p>
        </p:txBody>
      </p:sp>
      <p:sp>
        <p:nvSpPr>
          <p:cNvPr id="23" name="Step text"/>
          <p:cNvSpPr txBox="1"/>
          <p:nvPr/>
        </p:nvSpPr>
        <p:spPr>
          <a:xfrm>
            <a:off x="4389120" y="4553712"/>
            <a:ext cx="70225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DELETE /jobs/123 cancels a job that is still running.</a:t>
            </a:r>
            <a:endParaRPr lang="en-US" sz="1800" dirty="0"/>
          </a:p>
        </p:txBody>
      </p:sp>
      <p:sp>
        <p:nvSpPr>
          <p:cNvPr id="24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25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Alternatives to polling: webhooks, Server-Sent Events or WebSockets.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Security best practices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TLS everywhere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HTTPS only, HSTS, modern protocol versions.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Authentication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OAuth 2.0 / OpenID Connect with PKCE; short-lived tokens; no secrets in URLs.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Authorization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Check permissions on every object and every function, server side.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76809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Input validation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Validate against the schema, enforce size and type limits, reject unknown input where appropriate.</a:t>
            </a:r>
            <a:endParaRPr lang="en-US" sz="2000" dirty="0"/>
          </a:p>
        </p:txBody>
      </p:sp>
      <p:sp>
        <p:nvSpPr>
          <p:cNvPr id="12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Card text 5"/>
          <p:cNvSpPr txBox="1"/>
          <p:nvPr/>
        </p:nvSpPr>
        <p:spPr>
          <a:xfrm>
            <a:off x="453237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Limit abuse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Rate limits, quotas, request size and timeout limits, pagination caps.</a:t>
            </a:r>
            <a:endParaRPr lang="en-US" sz="2000" dirty="0"/>
          </a:p>
        </p:txBody>
      </p:sp>
      <p:sp>
        <p:nvSpPr>
          <p:cNvPr id="1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ard text 6"/>
          <p:cNvSpPr txBox="1"/>
          <p:nvPr/>
        </p:nvSpPr>
        <p:spPr>
          <a:xfrm>
            <a:off x="829665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Minimise exposure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Return only needed properties, generic errors, explicit CORS allowlists, audit logs.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OWASP API Security Top 10 (2023)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graphicFrame>
        <p:nvGraphicFramePr>
          <p:cNvPr id="5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6062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in one line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Object Level Authorization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ownership on every object access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Authentication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flows, short-lived tokens, lockouts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Object Property Level Auth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 readable and writable properties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Unrestricted Resource Consumption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limits, quotas, size and time caps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Function Level Authorization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 by default; role checks per endpoint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Unrestricted Access to Sensitive Flows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automation of purchases, signups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Side Request Forgery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and allowlist outbound URLs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Misconfiguration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Hardened defaults, CORS, headers, patching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Improper Inventory Management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versions and hosts; retire old ones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Consumption of APIs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third-party API data as untrusted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Rate limiting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Protects availability and cost; fixes unrestricted resource consumption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Algorithms: fixed window, sliding window, token bucket, leaky bucket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 per API key, user, IP and sometimes per endpoint or cost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Return 429 Too Many Requests with Retry-After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Expose quota with RateLimit headers so clients can self-throttle</a:t>
            </a:r>
            <a:endParaRPr lang="en-US" sz="20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154680"/>
          </a:xfrm>
          <a:prstGeom prst="roundRect">
            <a:avLst>
              <a:gd name="adj" fmla="val 2899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Throttled request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Too Many Requests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application/problem+json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Retry-After: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RateLimit-Limit: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RateLimit-Remaining: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endParaRPr lang="en-US" sz="13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RateLimit-Reset: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"https://api.example.com/problems/rate-limit"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"Rate limit exceeded"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Performance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Compress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gzip or Brotli for text payloads; negotiate with Accept-Encoding.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Cache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Cache-Control and ETags; put a CDN in front of public GETs.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Shrink payloads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Pagination, sparse fieldsets, no over-fetching.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76809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Avoid chatty APIs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expand, batch endpoints and well-shaped resources reduce round trips and N+1 calls.</a:t>
            </a:r>
            <a:endParaRPr lang="en-US" sz="2000" dirty="0"/>
          </a:p>
        </p:txBody>
      </p:sp>
      <p:sp>
        <p:nvSpPr>
          <p:cNvPr id="12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Card text 5"/>
          <p:cNvSpPr txBox="1"/>
          <p:nvPr/>
        </p:nvSpPr>
        <p:spPr>
          <a:xfrm>
            <a:off x="453237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Modern transport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HTTP/2 or HTTP/3 multiplexing, keep-alive and connection pooling.</a:t>
            </a:r>
            <a:endParaRPr lang="en-US" sz="2000" dirty="0"/>
          </a:p>
        </p:txBody>
      </p:sp>
      <p:sp>
        <p:nvSpPr>
          <p:cNvPr id="1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ard text 6"/>
          <p:cNvSpPr txBox="1"/>
          <p:nvPr/>
        </p:nvSpPr>
        <p:spPr>
          <a:xfrm>
            <a:off x="829665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Go async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Move slow work behind 202 Accepted and a status resource.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Observability and operations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06 · DESIGN BEST PRACTICES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368503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Propagate a correlation id: W3C traceparent (or X-Request-ID) through every hop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Structured logs with method, path template, status and latency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Track the RED metrics: rate, errors, duration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Separate liveness and readiness endpoints for orchestrators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Measure usage per API version to drive deprecation decisions</a:t>
            </a:r>
            <a:endParaRPr lang="en-US" sz="1900" dirty="0"/>
          </a:p>
        </p:txBody>
      </p:sp>
      <p:sp>
        <p:nvSpPr>
          <p:cNvPr id="5" name="Code box"/>
          <p:cNvSpPr/>
          <p:nvPr/>
        </p:nvSpPr>
        <p:spPr>
          <a:xfrm>
            <a:off x="4599432" y="1508760"/>
            <a:ext cx="7040880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4800600" y="1618488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Trace context propagation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4800600" y="1965960"/>
            <a:ext cx="66385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/orders/42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api.example.com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traceparent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3577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929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4736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067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X-Request-ID: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7f1c2d9e</a:t>
            </a:r>
            <a:endParaRPr lang="en-US" sz="12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Server-Timing: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db;dur=12, app;dur=31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Versioning and deprecation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Changing an API without breaking the people who depend on it</a:t>
            </a:r>
            <a:endParaRPr lang="en-US" sz="2200" dirty="0"/>
          </a:p>
        </p:txBody>
      </p:sp>
      <p:sp>
        <p:nvSpPr>
          <p:cNvPr id="5" name="Topic Breaking vs additive"/>
          <p:cNvSpPr/>
          <p:nvPr/>
        </p:nvSpPr>
        <p:spPr>
          <a:xfrm>
            <a:off x="822960" y="493776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6" name="Topic text"/>
          <p:cNvSpPr txBox="1"/>
          <p:nvPr/>
        </p:nvSpPr>
        <p:spPr>
          <a:xfrm>
            <a:off x="82296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Breaking vs additive</a:t>
            </a:r>
            <a:endParaRPr lang="en-US" sz="1500" dirty="0"/>
          </a:p>
        </p:txBody>
      </p:sp>
      <p:sp>
        <p:nvSpPr>
          <p:cNvPr id="7" name="Topic Versioning strategies"/>
          <p:cNvSpPr/>
          <p:nvPr/>
        </p:nvSpPr>
        <p:spPr>
          <a:xfrm>
            <a:off x="3749040" y="4937760"/>
            <a:ext cx="28575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8" name="Topic text"/>
          <p:cNvSpPr txBox="1"/>
          <p:nvPr/>
        </p:nvSpPr>
        <p:spPr>
          <a:xfrm>
            <a:off x="3749040" y="4937760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Versioning strategies</a:t>
            </a:r>
            <a:endParaRPr lang="en-US" sz="1500" dirty="0"/>
          </a:p>
        </p:txBody>
      </p:sp>
      <p:sp>
        <p:nvSpPr>
          <p:cNvPr id="9" name="Topic Deprecation lifecycle"/>
          <p:cNvSpPr/>
          <p:nvPr/>
        </p:nvSpPr>
        <p:spPr>
          <a:xfrm>
            <a:off x="6789420" y="4937760"/>
            <a:ext cx="28575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0" name="Topic text"/>
          <p:cNvSpPr txBox="1"/>
          <p:nvPr/>
        </p:nvSpPr>
        <p:spPr>
          <a:xfrm>
            <a:off x="6789420" y="4937760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Deprecation lifecycle</a:t>
            </a:r>
            <a:endParaRPr lang="en-US" sz="1500" dirty="0"/>
          </a:p>
        </p:txBody>
      </p:sp>
      <p:sp>
        <p:nvSpPr>
          <p:cNvPr id="11" name="Topic Compatibility rules"/>
          <p:cNvSpPr/>
          <p:nvPr/>
        </p:nvSpPr>
        <p:spPr>
          <a:xfrm>
            <a:off x="822960" y="5504688"/>
            <a:ext cx="26289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2" name="Topic text"/>
          <p:cNvSpPr txBox="1"/>
          <p:nvPr/>
        </p:nvSpPr>
        <p:spPr>
          <a:xfrm>
            <a:off x="822960" y="5504688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Compatibility rules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Breaking vs non-breaking changes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07 · VERSIONING AND DEPRECATION</a:t>
            </a:r>
            <a:endParaRPr lang="en-US" sz="1200" dirty="0"/>
          </a:p>
        </p:txBody>
      </p:sp>
      <p:sp>
        <p:nvSpPr>
          <p:cNvPr id="4" name="Compare card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Compare header"/>
          <p:cNvSpPr/>
          <p:nvPr/>
        </p:nvSpPr>
        <p:spPr>
          <a:xfrm>
            <a:off x="548640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6" name="Compare title"/>
          <p:cNvSpPr txBox="1"/>
          <p:nvPr/>
        </p:nvSpPr>
        <p:spPr>
          <a:xfrm>
            <a:off x="777240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Breaking: needs a new version</a:t>
            </a:r>
            <a:endParaRPr lang="en-US" sz="2200" dirty="0"/>
          </a:p>
        </p:txBody>
      </p:sp>
      <p:sp>
        <p:nvSpPr>
          <p:cNvPr id="7" name="Compare items"/>
          <p:cNvSpPr txBox="1"/>
          <p:nvPr/>
        </p:nvSpPr>
        <p:spPr>
          <a:xfrm>
            <a:off x="777240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Removing or renaming an endpoint, field or parameter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Changing a type, format or meaning of a field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Making an optional input required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Tightening validation or changing error behaviour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Changing authentication or authorization rules</a:t>
            </a:r>
            <a:endParaRPr lang="en-US" sz="1700" dirty="0"/>
          </a:p>
        </p:txBody>
      </p:sp>
      <p:sp>
        <p:nvSpPr>
          <p:cNvPr id="8" name="Compare card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9" name="Compare header"/>
          <p:cNvSpPr/>
          <p:nvPr/>
        </p:nvSpPr>
        <p:spPr>
          <a:xfrm>
            <a:off x="6231636" y="1508760"/>
            <a:ext cx="5408676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10" name="Compare title"/>
          <p:cNvSpPr txBox="1"/>
          <p:nvPr/>
        </p:nvSpPr>
        <p:spPr>
          <a:xfrm>
            <a:off x="6460236" y="1508760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Non-breaking: additive</a:t>
            </a:r>
            <a:endParaRPr lang="en-US" sz="2200" dirty="0"/>
          </a:p>
        </p:txBody>
      </p:sp>
      <p:sp>
        <p:nvSpPr>
          <p:cNvPr id="11" name="Compare items"/>
          <p:cNvSpPr txBox="1"/>
          <p:nvPr/>
        </p:nvSpPr>
        <p:spPr>
          <a:xfrm>
            <a:off x="6460236" y="2276856"/>
            <a:ext cx="49514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Adding a new endpoint or resource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Adding an optional request field or query parameter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Adding a response field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Adding an enum value (only if clients tolerate unknown values)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Relaxing validation</a:t>
            </a:r>
            <a:endParaRPr lang="en-US" sz="1700" dirty="0"/>
          </a:p>
        </p:txBody>
      </p:sp>
      <p:sp>
        <p:nvSpPr>
          <p:cNvPr id="12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3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Document that clients must ignore unknown fields (the Tolerant Reader pattern); without it, even additive changes can break.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Versioning strategies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07 · VERSIONING AND DEPRECATION</a:t>
            </a:r>
            <a:endParaRPr lang="en-US" sz="1200" dirty="0"/>
          </a:p>
        </p:txBody>
      </p:sp>
      <p:graphicFrame>
        <p:nvGraphicFramePr>
          <p:cNvPr id="6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2743200"/>
                <a:gridCol w="2862072"/>
              </a:tblGrid>
              <a:tr h="5079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68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 path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/v2/orders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Visible, easy to route and cache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in the identifier; URI churn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68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parameter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?api-version=2024-06-01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add; used by Azure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Easily lost; cache keys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13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header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X-GitHub-Api-Version: 2022-11-28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URIs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Hidden; harder in a browser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68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type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Accept: application/vnd.example.v2+json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Purist; versions the representation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 and caching friction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68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Date-based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Stripe-Version: 2024-06-20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Fine-grained, pinned per account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server-side effort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68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 only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version; additive changes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fragmentation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discipline and hypermedia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Choosing a strategy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07 · VERSIONING AND DEPRECATION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5445252" cy="1865376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50063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Public API, many unknown clients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URI major version (/v1, /v2). Simple to document, route, cache and sunset. Version majors only.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6195060" y="1508760"/>
            <a:ext cx="5445252" cy="1865376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6414516" y="1691640"/>
            <a:ext cx="50063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Partner or B2B API, long-lived clients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Header or date-based versions with a published changelog; clients pin the version they tested against.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548640" y="3575304"/>
            <a:ext cx="5445252" cy="1865376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768096" y="3758184"/>
            <a:ext cx="50063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Internal microservices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Evolve compatibly, add consumer-driven contract tests (for example Pact), and avoid parallel versions.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6195060" y="3575304"/>
            <a:ext cx="5445252" cy="1865376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6414516" y="3758184"/>
            <a:ext cx="50063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Hypermedia-driven API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Version media types or rely on links so that the server can move without breaking clients.</a:t>
            </a:r>
            <a:endParaRPr lang="en-US" sz="2000" dirty="0"/>
          </a:p>
        </p:txBody>
      </p:sp>
      <p:sp>
        <p:nvSpPr>
          <p:cNvPr id="12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13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Whatever you choose, apply it uniformly and make it part of the contract.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Deprecation lifecycle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07 · VERSIONING AND DEPRECATION</a:t>
            </a:r>
            <a:endParaRPr lang="en-US" sz="1200" dirty="0"/>
          </a:p>
        </p:txBody>
      </p:sp>
      <p:sp>
        <p:nvSpPr>
          <p:cNvPr id="4" name="Step row 1"/>
          <p:cNvSpPr/>
          <p:nvPr/>
        </p:nvSpPr>
        <p:spPr>
          <a:xfrm>
            <a:off x="548640" y="1508760"/>
            <a:ext cx="11091672" cy="683971"/>
          </a:xfrm>
          <a:prstGeom prst="roundRect">
            <a:avLst>
              <a:gd name="adj" fmla="val 16043"/>
            </a:avLst>
          </a:prstGeom>
          <a:solidFill>
            <a:schemeClr val="bg2"/>
          </a:solidFill>
          <a:ln/>
        </p:spPr>
      </p:sp>
      <p:sp>
        <p:nvSpPr>
          <p:cNvPr id="5" name="Step badge"/>
          <p:cNvSpPr/>
          <p:nvPr/>
        </p:nvSpPr>
        <p:spPr>
          <a:xfrm>
            <a:off x="777240" y="161300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 number"/>
          <p:cNvSpPr txBox="1"/>
          <p:nvPr/>
        </p:nvSpPr>
        <p:spPr>
          <a:xfrm>
            <a:off x="777240" y="161300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ep title"/>
          <p:cNvSpPr txBox="1"/>
          <p:nvPr/>
        </p:nvSpPr>
        <p:spPr>
          <a:xfrm>
            <a:off x="1508760" y="1508760"/>
            <a:ext cx="27432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Announce</a:t>
            </a:r>
            <a:endParaRPr lang="en-US" sz="2100" dirty="0"/>
          </a:p>
        </p:txBody>
      </p:sp>
      <p:sp>
        <p:nvSpPr>
          <p:cNvPr id="8" name="Step text"/>
          <p:cNvSpPr txBox="1"/>
          <p:nvPr/>
        </p:nvSpPr>
        <p:spPr>
          <a:xfrm>
            <a:off x="4389120" y="1508760"/>
            <a:ext cx="7022592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Changelog, email and developer portal notice with the replacement and migration guide.</a:t>
            </a:r>
            <a:endParaRPr lang="en-US" sz="1800" dirty="0"/>
          </a:p>
        </p:txBody>
      </p:sp>
      <p:sp>
        <p:nvSpPr>
          <p:cNvPr id="9" name="Step row 2"/>
          <p:cNvSpPr/>
          <p:nvPr/>
        </p:nvSpPr>
        <p:spPr>
          <a:xfrm>
            <a:off x="548640" y="2320747"/>
            <a:ext cx="11091672" cy="683971"/>
          </a:xfrm>
          <a:prstGeom prst="roundRect">
            <a:avLst>
              <a:gd name="adj" fmla="val 16043"/>
            </a:avLst>
          </a:prstGeom>
          <a:solidFill>
            <a:schemeClr val="bg2"/>
          </a:solidFill>
          <a:ln/>
        </p:spPr>
      </p:sp>
      <p:sp>
        <p:nvSpPr>
          <p:cNvPr id="10" name="Step badge"/>
          <p:cNvSpPr/>
          <p:nvPr/>
        </p:nvSpPr>
        <p:spPr>
          <a:xfrm>
            <a:off x="777240" y="2424989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"/>
          <p:cNvSpPr txBox="1"/>
          <p:nvPr/>
        </p:nvSpPr>
        <p:spPr>
          <a:xfrm>
            <a:off x="777240" y="2424989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tep title"/>
          <p:cNvSpPr txBox="1"/>
          <p:nvPr/>
        </p:nvSpPr>
        <p:spPr>
          <a:xfrm>
            <a:off x="1508760" y="2320747"/>
            <a:ext cx="27432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Signal in responses</a:t>
            </a:r>
            <a:endParaRPr lang="en-US" sz="2100" dirty="0"/>
          </a:p>
        </p:txBody>
      </p:sp>
      <p:sp>
        <p:nvSpPr>
          <p:cNvPr id="13" name="Step text"/>
          <p:cNvSpPr txBox="1"/>
          <p:nvPr/>
        </p:nvSpPr>
        <p:spPr>
          <a:xfrm>
            <a:off x="4389120" y="2320747"/>
            <a:ext cx="7022592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Add Deprecation and Sunset headers plus a Link to the migration guide.</a:t>
            </a:r>
            <a:endParaRPr lang="en-US" sz="1800" dirty="0"/>
          </a:p>
        </p:txBody>
      </p:sp>
      <p:sp>
        <p:nvSpPr>
          <p:cNvPr id="14" name="Step row 3"/>
          <p:cNvSpPr/>
          <p:nvPr/>
        </p:nvSpPr>
        <p:spPr>
          <a:xfrm>
            <a:off x="548640" y="3132734"/>
            <a:ext cx="11091672" cy="683971"/>
          </a:xfrm>
          <a:prstGeom prst="roundRect">
            <a:avLst>
              <a:gd name="adj" fmla="val 16043"/>
            </a:avLst>
          </a:prstGeom>
          <a:solidFill>
            <a:schemeClr val="bg2"/>
          </a:solidFill>
          <a:ln/>
        </p:spPr>
      </p:sp>
      <p:sp>
        <p:nvSpPr>
          <p:cNvPr id="15" name="Step badge"/>
          <p:cNvSpPr/>
          <p:nvPr/>
        </p:nvSpPr>
        <p:spPr>
          <a:xfrm>
            <a:off x="777240" y="32369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ber"/>
          <p:cNvSpPr txBox="1"/>
          <p:nvPr/>
        </p:nvSpPr>
        <p:spPr>
          <a:xfrm>
            <a:off x="777240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tep title"/>
          <p:cNvSpPr txBox="1"/>
          <p:nvPr/>
        </p:nvSpPr>
        <p:spPr>
          <a:xfrm>
            <a:off x="1508760" y="3132734"/>
            <a:ext cx="27432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Monitor usage</a:t>
            </a:r>
            <a:endParaRPr lang="en-US" sz="2100" dirty="0"/>
          </a:p>
        </p:txBody>
      </p:sp>
      <p:sp>
        <p:nvSpPr>
          <p:cNvPr id="18" name="Step text"/>
          <p:cNvSpPr txBox="1"/>
          <p:nvPr/>
        </p:nvSpPr>
        <p:spPr>
          <a:xfrm>
            <a:off x="4389120" y="3132734"/>
            <a:ext cx="7022592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Track which clients still call the old version; contact them directly.</a:t>
            </a:r>
            <a:endParaRPr lang="en-US" sz="1800" dirty="0"/>
          </a:p>
        </p:txBody>
      </p:sp>
      <p:sp>
        <p:nvSpPr>
          <p:cNvPr id="19" name="Step row 4"/>
          <p:cNvSpPr/>
          <p:nvPr/>
        </p:nvSpPr>
        <p:spPr>
          <a:xfrm>
            <a:off x="548640" y="3944722"/>
            <a:ext cx="11091672" cy="683971"/>
          </a:xfrm>
          <a:prstGeom prst="roundRect">
            <a:avLst>
              <a:gd name="adj" fmla="val 16043"/>
            </a:avLst>
          </a:prstGeom>
          <a:solidFill>
            <a:schemeClr val="bg2"/>
          </a:solidFill>
          <a:ln/>
        </p:spPr>
      </p:sp>
      <p:sp>
        <p:nvSpPr>
          <p:cNvPr id="20" name="Step badge"/>
          <p:cNvSpPr/>
          <p:nvPr/>
        </p:nvSpPr>
        <p:spPr>
          <a:xfrm>
            <a:off x="777240" y="4048963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 number"/>
          <p:cNvSpPr txBox="1"/>
          <p:nvPr/>
        </p:nvSpPr>
        <p:spPr>
          <a:xfrm>
            <a:off x="777240" y="404896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Step title"/>
          <p:cNvSpPr txBox="1"/>
          <p:nvPr/>
        </p:nvSpPr>
        <p:spPr>
          <a:xfrm>
            <a:off x="1508760" y="3944722"/>
            <a:ext cx="27432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Brown out</a:t>
            </a:r>
            <a:endParaRPr lang="en-US" sz="2100" dirty="0"/>
          </a:p>
        </p:txBody>
      </p:sp>
      <p:sp>
        <p:nvSpPr>
          <p:cNvPr id="23" name="Step text"/>
          <p:cNvSpPr txBox="1"/>
          <p:nvPr/>
        </p:nvSpPr>
        <p:spPr>
          <a:xfrm>
            <a:off x="4389120" y="3944722"/>
            <a:ext cx="7022592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Short, scheduled outages of the old version to flush out forgotten clients.</a:t>
            </a:r>
            <a:endParaRPr lang="en-US" sz="1800" dirty="0"/>
          </a:p>
        </p:txBody>
      </p:sp>
      <p:sp>
        <p:nvSpPr>
          <p:cNvPr id="24" name="Step row 5"/>
          <p:cNvSpPr/>
          <p:nvPr/>
        </p:nvSpPr>
        <p:spPr>
          <a:xfrm>
            <a:off x="548640" y="4756709"/>
            <a:ext cx="11091672" cy="683971"/>
          </a:xfrm>
          <a:prstGeom prst="roundRect">
            <a:avLst>
              <a:gd name="adj" fmla="val 16043"/>
            </a:avLst>
          </a:prstGeom>
          <a:solidFill>
            <a:schemeClr val="bg2"/>
          </a:solidFill>
          <a:ln/>
        </p:spPr>
      </p:sp>
      <p:sp>
        <p:nvSpPr>
          <p:cNvPr id="25" name="Step badge"/>
          <p:cNvSpPr/>
          <p:nvPr/>
        </p:nvSpPr>
        <p:spPr>
          <a:xfrm>
            <a:off x="777240" y="486095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Step number"/>
          <p:cNvSpPr txBox="1"/>
          <p:nvPr/>
        </p:nvSpPr>
        <p:spPr>
          <a:xfrm>
            <a:off x="777240" y="486095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Step title"/>
          <p:cNvSpPr txBox="1"/>
          <p:nvPr/>
        </p:nvSpPr>
        <p:spPr>
          <a:xfrm>
            <a:off x="1508760" y="4756709"/>
            <a:ext cx="27432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Retire</a:t>
            </a:r>
            <a:endParaRPr lang="en-US" sz="2100" dirty="0"/>
          </a:p>
        </p:txBody>
      </p:sp>
      <p:sp>
        <p:nvSpPr>
          <p:cNvPr id="28" name="Step text"/>
          <p:cNvSpPr txBox="1"/>
          <p:nvPr/>
        </p:nvSpPr>
        <p:spPr>
          <a:xfrm>
            <a:off x="4389120" y="4756709"/>
            <a:ext cx="7022592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After the sunset date return 410 Gone with a problem-details body.</a:t>
            </a:r>
            <a:endParaRPr lang="en-US" sz="1800" dirty="0"/>
          </a:p>
        </p:txBody>
      </p:sp>
      <p:sp>
        <p:nvSpPr>
          <p:cNvPr id="29" name="Takeaway panel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1"/>
          </a:solidFill>
          <a:ln/>
        </p:spPr>
      </p:sp>
      <p:sp>
        <p:nvSpPr>
          <p:cNvPr id="30" name="Takeaway text"/>
          <p:cNvSpPr txBox="1"/>
          <p:nvPr/>
        </p:nvSpPr>
        <p:spPr>
          <a:xfrm>
            <a:off x="777240" y="559612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Give clients a realistic window: months for public APIs, not days.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Deprecation and Sunset headers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07 · VERSIONING AND DEPRECATION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Deprecation (RFC 9745): the resource is or will be deprecated; value is a date (structured field)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Sunset (RFC 8594): when the resource is expected to stop responding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Link with rel="deprecation" and rel="successor-version" points to documentation and the replacement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Machine-readable signals let clients and gateways alert automatically</a:t>
            </a:r>
            <a:endParaRPr lang="en-US" sz="22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Response from a deprecated v1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Deprecation: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@1767225600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Sunset: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Wed, 30 Jun 2027 23:59:59 GMT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&lt;https://developer.example.com/migrate-v2&gt;;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rel=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"deprecation"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type=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"text/html"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Link: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&lt;https://api.example.com/v2/orders&gt;;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rel=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"successor-version"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Compatibility rules of thumb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07 · VERSIONING AND DEPRECATION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Prefer additive evolution; version only for genuine breaking changes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Be liberal in what you accept and tolerant of unknown fields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Never reuse a field name or enum value with a different meaning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Give new fields safe defaults for old clients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Run OpenAPI diff checks (for example oasdiff) and contract tests in CI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Keep a public changelog and an explicit support policy</a:t>
            </a:r>
            <a:endParaRPr lang="en-US" sz="2200" dirty="0"/>
          </a:p>
        </p:txBody>
      </p:sp>
      <p:sp>
        <p:nvSpPr>
          <p:cNvPr id="5" name="Callout"/>
          <p:cNvSpPr/>
          <p:nvPr/>
        </p:nvSpPr>
        <p:spPr>
          <a:xfrm>
            <a:off x="7891272" y="1554480"/>
            <a:ext cx="3749040" cy="2164080"/>
          </a:xfrm>
          <a:prstGeom prst="roundRect">
            <a:avLst>
              <a:gd name="adj" fmla="val 5070"/>
            </a:avLst>
          </a:prstGeom>
          <a:solidFill>
            <a:schemeClr val="tx1"/>
          </a:solidFill>
          <a:ln/>
        </p:spPr>
      </p:sp>
      <p:sp>
        <p:nvSpPr>
          <p:cNvPr id="6" name="Callout text"/>
          <p:cNvSpPr txBox="1"/>
          <p:nvPr/>
        </p:nvSpPr>
        <p:spPr>
          <a:xfrm>
            <a:off x="8165592" y="1783080"/>
            <a:ext cx="32004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Cost of versions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Every live version is code, tests, docs and support. Keep the number of supported versions small.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Tooling and wrap-up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Documenting, testing, choosing alternatives and avoiding pitfalls</a:t>
            </a:r>
            <a:endParaRPr lang="en-US" sz="2200" dirty="0"/>
          </a:p>
        </p:txBody>
      </p:sp>
      <p:sp>
        <p:nvSpPr>
          <p:cNvPr id="5" name="Topic OpenAPI"/>
          <p:cNvSpPr/>
          <p:nvPr/>
        </p:nvSpPr>
        <p:spPr>
          <a:xfrm>
            <a:off x="822960" y="493776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6" name="Topic text"/>
          <p:cNvSpPr txBox="1"/>
          <p:nvPr/>
        </p:nvSpPr>
        <p:spPr>
          <a:xfrm>
            <a:off x="822960" y="4937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OpenAPI</a:t>
            </a:r>
            <a:endParaRPr lang="en-US" sz="1500" dirty="0"/>
          </a:p>
        </p:txBody>
      </p:sp>
      <p:sp>
        <p:nvSpPr>
          <p:cNvPr id="7" name="Topic Testing and gateways"/>
          <p:cNvSpPr/>
          <p:nvPr/>
        </p:nvSpPr>
        <p:spPr>
          <a:xfrm>
            <a:off x="2286000" y="493776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8" name="Topic text"/>
          <p:cNvSpPr txBox="1"/>
          <p:nvPr/>
        </p:nvSpPr>
        <p:spPr>
          <a:xfrm>
            <a:off x="228600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Testing and gateways</a:t>
            </a:r>
            <a:endParaRPr lang="en-US" sz="1500" dirty="0"/>
          </a:p>
        </p:txBody>
      </p:sp>
      <p:sp>
        <p:nvSpPr>
          <p:cNvPr id="9" name="Topic REST vs GraphQL vs gRPC"/>
          <p:cNvSpPr/>
          <p:nvPr/>
        </p:nvSpPr>
        <p:spPr>
          <a:xfrm>
            <a:off x="5212080" y="4937760"/>
            <a:ext cx="30861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0" name="Topic text"/>
          <p:cNvSpPr txBox="1"/>
          <p:nvPr/>
        </p:nvSpPr>
        <p:spPr>
          <a:xfrm>
            <a:off x="5212080" y="4937760"/>
            <a:ext cx="3086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REST vs GraphQL vs gRPC</a:t>
            </a:r>
            <a:endParaRPr lang="en-US" sz="1500" dirty="0"/>
          </a:p>
        </p:txBody>
      </p:sp>
      <p:sp>
        <p:nvSpPr>
          <p:cNvPr id="11" name="Topic Anti-patterns"/>
          <p:cNvSpPr/>
          <p:nvPr/>
        </p:nvSpPr>
        <p:spPr>
          <a:xfrm>
            <a:off x="8481060" y="4937760"/>
            <a:ext cx="19431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2" name="Topic text"/>
          <p:cNvSpPr txBox="1"/>
          <p:nvPr/>
        </p:nvSpPr>
        <p:spPr>
          <a:xfrm>
            <a:off x="8481060" y="4937760"/>
            <a:ext cx="1943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Anti-patterns</a:t>
            </a:r>
            <a:endParaRPr lang="en-US" sz="1500" dirty="0"/>
          </a:p>
        </p:txBody>
      </p:sp>
      <p:sp>
        <p:nvSpPr>
          <p:cNvPr id="13" name="Topic Checklist"/>
          <p:cNvSpPr/>
          <p:nvPr/>
        </p:nvSpPr>
        <p:spPr>
          <a:xfrm>
            <a:off x="822960" y="5504688"/>
            <a:ext cx="148590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/>
        </p:spPr>
      </p:sp>
      <p:sp>
        <p:nvSpPr>
          <p:cNvPr id="14" name="Topic text"/>
          <p:cNvSpPr txBox="1"/>
          <p:nvPr/>
        </p:nvSpPr>
        <p:spPr>
          <a:xfrm>
            <a:off x="822960" y="5504688"/>
            <a:ext cx="1485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Checklist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OpenAPI and documentation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08 · TOOLING AND WRAP-UP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46177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OpenAPI Specification: a machine-readable contract in YAML or JSON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Contract-first or code-first: either way, the spec is the source of truth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Generates docs (Swagger UI, Redoc), SDKs, mocks and validators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OpenAPI 3.1 uses JSON Schema 2020-12 directly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Lint with Spectral; describe events with AsyncAPI</a:t>
            </a:r>
            <a:endParaRPr lang="en-US" sz="2200" dirty="0"/>
          </a:p>
        </p:txBody>
      </p:sp>
      <p:sp>
        <p:nvSpPr>
          <p:cNvPr id="5" name="Code box"/>
          <p:cNvSpPr/>
          <p:nvPr/>
        </p:nvSpPr>
        <p:spPr>
          <a:xfrm>
            <a:off x="5532120" y="1508760"/>
            <a:ext cx="6108192" cy="4617720"/>
          </a:xfrm>
          <a:prstGeom prst="roundRect">
            <a:avLst>
              <a:gd name="adj" fmla="val 1980"/>
            </a:avLst>
          </a:prstGeom>
          <a:solidFill>
            <a:schemeClr val="tx1"/>
          </a:solidFill>
          <a:ln/>
        </p:spPr>
      </p:sp>
      <p:sp>
        <p:nvSpPr>
          <p:cNvPr id="6" name="Code label"/>
          <p:cNvSpPr txBox="1"/>
          <p:nvPr/>
        </p:nvSpPr>
        <p:spPr>
          <a:xfrm>
            <a:off x="5733288" y="161848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OpenAPI 3.1 fragment</a:t>
            </a:r>
            <a:endParaRPr lang="en-US" sz="1200" dirty="0"/>
          </a:p>
        </p:txBody>
      </p:sp>
      <p:sp>
        <p:nvSpPr>
          <p:cNvPr id="7" name="Code"/>
          <p:cNvSpPr txBox="1"/>
          <p:nvPr/>
        </p:nvSpPr>
        <p:spPr>
          <a:xfrm>
            <a:off x="5733288" y="1965960"/>
            <a:ext cx="570585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openapi: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/orders/{id}: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 an 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responses: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"200":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"404":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found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Testing and tooling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08 · TOOLING AND WRAP-UP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Explore and debug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curl, HTTPie, Postman, Bruno, Insomnia.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Contract testing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Pact for consumer-driven contracts; Schemathesis or Dredd to test an implementation against its OpenAPI spec.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Load and resilience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k6, Gatling, JMeter; chaos experiments for timeouts and retries.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54864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76809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API gateways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Kong, Apigee, AWS API Gateway, Azure API Management: auth, throttling, routing, analytics.</a:t>
            </a:r>
            <a:endParaRPr lang="en-US" sz="2000" dirty="0"/>
          </a:p>
        </p:txBody>
      </p:sp>
      <p:sp>
        <p:nvSpPr>
          <p:cNvPr id="12" name="Card 5"/>
          <p:cNvSpPr/>
          <p:nvPr/>
        </p:nvSpPr>
        <p:spPr>
          <a:xfrm>
            <a:off x="431292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Card text 5"/>
          <p:cNvSpPr txBox="1"/>
          <p:nvPr/>
        </p:nvSpPr>
        <p:spPr>
          <a:xfrm>
            <a:off x="453237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Mocking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Prism, WireMock and Mockoon for contract-first development.</a:t>
            </a:r>
            <a:endParaRPr lang="en-US" sz="2000" dirty="0"/>
          </a:p>
        </p:txBody>
      </p:sp>
      <p:sp>
        <p:nvSpPr>
          <p:cNvPr id="14" name="Card 6"/>
          <p:cNvSpPr/>
          <p:nvPr/>
        </p:nvSpPr>
        <p:spPr>
          <a:xfrm>
            <a:off x="8077200" y="3986784"/>
            <a:ext cx="356311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ard text 6"/>
          <p:cNvSpPr txBox="1"/>
          <p:nvPr/>
        </p:nvSpPr>
        <p:spPr>
          <a:xfrm>
            <a:off x="8296656" y="4169664"/>
            <a:ext cx="3124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Governance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Spectral linting, oasdiff breaking-change checks, style guides enforced in CI.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REST vs GraphQL vs gRPC vs events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08 · TOOLING AND WRAP-UP</a:t>
            </a:r>
            <a:endParaRPr lang="en-US" sz="1200" dirty="0"/>
          </a:p>
        </p:txBody>
      </p:sp>
      <p:graphicFrame>
        <p:nvGraphicFramePr>
          <p:cNvPr id="7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2651760"/>
                <a:gridCol w="2286000"/>
                <a:gridCol w="1947672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GraphQL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841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 over HTTP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language, one endpoint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 with Protobuf over HTTP/2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via a broker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JSON, XML, others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Protobuf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HTTP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HTTP caching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20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APIs, CRUD, compatibility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Varied clients, nested data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low-latency calls, streaming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Decoupling, fan-out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841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Chatty, over-fetching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cost, per-field authz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support, tooling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Eventual consistency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anti-patterns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08 · TOOLING AND WRAP-UP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218313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Verbs in URIs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/getUser, /deleteOrder: the method already says it.</a:t>
            </a:r>
            <a:endParaRPr lang="en-US" sz="1800" dirty="0"/>
          </a:p>
        </p:txBody>
      </p:sp>
      <p:sp>
        <p:nvSpPr>
          <p:cNvPr id="6" name="Card 2"/>
          <p:cNvSpPr/>
          <p:nvPr/>
        </p:nvSpPr>
        <p:spPr>
          <a:xfrm>
            <a:off x="337185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3591306" y="1691640"/>
            <a:ext cx="218313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200 with error body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Hides failures from clients, caches and monitoring.</a:t>
            </a:r>
            <a:endParaRPr lang="en-US" sz="1800" dirty="0"/>
          </a:p>
        </p:txBody>
      </p:sp>
      <p:sp>
        <p:nvSpPr>
          <p:cNvPr id="8" name="Card 3"/>
          <p:cNvSpPr/>
          <p:nvPr/>
        </p:nvSpPr>
        <p:spPr>
          <a:xfrm>
            <a:off x="619506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6414516" y="1691640"/>
            <a:ext cx="218313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Everything is POST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Loses caching, idempotency and semantics.</a:t>
            </a:r>
            <a:endParaRPr lang="en-US" sz="1800" dirty="0"/>
          </a:p>
        </p:txBody>
      </p:sp>
      <p:sp>
        <p:nvSpPr>
          <p:cNvPr id="10" name="Card 4"/>
          <p:cNvSpPr/>
          <p:nvPr/>
        </p:nvSpPr>
        <p:spPr>
          <a:xfrm>
            <a:off x="9018270" y="1508760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1" name="Card text 4"/>
          <p:cNvSpPr txBox="1"/>
          <p:nvPr/>
        </p:nvSpPr>
        <p:spPr>
          <a:xfrm>
            <a:off x="9237726" y="1691640"/>
            <a:ext cx="218313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Exposing the database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Tables become endpoints; schema changes become breaking changes.</a:t>
            </a:r>
            <a:endParaRPr lang="en-US" sz="1800" dirty="0"/>
          </a:p>
        </p:txBody>
      </p:sp>
      <p:sp>
        <p:nvSpPr>
          <p:cNvPr id="12" name="Card 5"/>
          <p:cNvSpPr/>
          <p:nvPr/>
        </p:nvSpPr>
        <p:spPr>
          <a:xfrm>
            <a:off x="54864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3" name="Card text 5"/>
          <p:cNvSpPr txBox="1"/>
          <p:nvPr/>
        </p:nvSpPr>
        <p:spPr>
          <a:xfrm>
            <a:off x="768096" y="4169664"/>
            <a:ext cx="218313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Breaking silently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Changing contracts without a version or notice.</a:t>
            </a:r>
            <a:endParaRPr lang="en-US" sz="1800" dirty="0"/>
          </a:p>
        </p:txBody>
      </p:sp>
      <p:sp>
        <p:nvSpPr>
          <p:cNvPr id="14" name="Card 6"/>
          <p:cNvSpPr/>
          <p:nvPr/>
        </p:nvSpPr>
        <p:spPr>
          <a:xfrm>
            <a:off x="337185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ard text 6"/>
          <p:cNvSpPr txBox="1"/>
          <p:nvPr/>
        </p:nvSpPr>
        <p:spPr>
          <a:xfrm>
            <a:off x="3591306" y="4169664"/>
            <a:ext cx="218313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Leaky errors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Stack traces, SQL and internals in responses.</a:t>
            </a:r>
            <a:endParaRPr lang="en-US" sz="1800" dirty="0"/>
          </a:p>
        </p:txBody>
      </p:sp>
      <p:sp>
        <p:nvSpPr>
          <p:cNvPr id="16" name="Card 7"/>
          <p:cNvSpPr/>
          <p:nvPr/>
        </p:nvSpPr>
        <p:spPr>
          <a:xfrm>
            <a:off x="619506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7" name="Card text 7"/>
          <p:cNvSpPr txBox="1"/>
          <p:nvPr/>
        </p:nvSpPr>
        <p:spPr>
          <a:xfrm>
            <a:off x="6414516" y="4169664"/>
            <a:ext cx="218313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Server-side sessions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Sticky sessions undermine statelessness and scaling.</a:t>
            </a:r>
            <a:endParaRPr lang="en-US" sz="1800" dirty="0"/>
          </a:p>
        </p:txBody>
      </p:sp>
      <p:sp>
        <p:nvSpPr>
          <p:cNvPr id="18" name="Card 8"/>
          <p:cNvSpPr/>
          <p:nvPr/>
        </p:nvSpPr>
        <p:spPr>
          <a:xfrm>
            <a:off x="9018270" y="3986784"/>
            <a:ext cx="2622042" cy="2276856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9" name="Card text 8"/>
          <p:cNvSpPr txBox="1"/>
          <p:nvPr/>
        </p:nvSpPr>
        <p:spPr>
          <a:xfrm>
            <a:off x="9237726" y="4169664"/>
            <a:ext cx="218313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Inconsistency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Different names, formats and errors from endpoint to endpoint.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Design checklist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08 · TOOLING AND WRAP-UP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Contract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Resources are nouns with stable URIs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Methods and status codes used correctly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One error format (RFC 9457)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OpenAPI spec published and linted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Behaviour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POST retries are safe (Idempotency-Key)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Pagination, filtering, sorting defined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Caching headers and ETags set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Conditional updates with If-Match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Operations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TLS, OAuth 2.0, object-level authorization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Rate limits with 429 and Retry-After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Versioning and deprecation policy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Tracing, logs, metrics, usage by version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08 · TOOLING AND WRAP-UP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55448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REST is an architectural style from Fielding's 2000 dissertation, built on six constraints</a:t>
            </a:r>
            <a:endParaRPr lang="en-US" sz="1800" dirty="0"/>
          </a:p>
          <a:p>
            <a:pPr marL="342900" indent="-3429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Richardson Maturity Model grades adoption of resources, verbs and hypermedia; level 2 is the practical baseline</a:t>
            </a:r>
            <a:endParaRPr lang="en-US" sz="1800" dirty="0"/>
          </a:p>
          <a:p>
            <a:pPr marL="342900" indent="-3429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Respect HTTP semantics: safe and idempotent methods, honest status codes, meaningful headers</a:t>
            </a:r>
            <a:endParaRPr lang="en-US" sz="1800" dirty="0"/>
          </a:p>
          <a:p>
            <a:pPr marL="342900" indent="-3429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Design for consumers: consistent URIs, pagination, problem-details errors, and OpenAPI documentation</a:t>
            </a:r>
            <a:endParaRPr lang="en-US" sz="1800" dirty="0"/>
          </a:p>
          <a:p>
            <a:pPr marL="342900" indent="-3429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Secure by default and protect capacity: TLS, OAuth 2.0, object-level authorization, rate limits</a:t>
            </a:r>
            <a:endParaRPr lang="en-US" sz="1800" dirty="0"/>
          </a:p>
          <a:p>
            <a:pPr marL="342900" indent="-3429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Evolve additively; when you must break, version, signal deprecation and sunset, and give clients time</a:t>
            </a:r>
            <a:endParaRPr lang="en-US" sz="1800" dirty="0"/>
          </a:p>
        </p:txBody>
      </p:sp>
      <p:sp>
        <p:nvSpPr>
          <p:cNvPr id="5" name="Callout"/>
          <p:cNvSpPr/>
          <p:nvPr/>
        </p:nvSpPr>
        <p:spPr>
          <a:xfrm>
            <a:off x="7891272" y="1554480"/>
            <a:ext cx="3749040" cy="2164080"/>
          </a:xfrm>
          <a:prstGeom prst="roundRect">
            <a:avLst>
              <a:gd name="adj" fmla="val 5070"/>
            </a:avLst>
          </a:prstGeom>
          <a:solidFill>
            <a:schemeClr val="tx1"/>
          </a:solidFill>
          <a:ln/>
        </p:spPr>
      </p:sp>
      <p:sp>
        <p:nvSpPr>
          <p:cNvPr id="6" name="Callout text"/>
          <p:cNvSpPr txBox="1"/>
          <p:nvPr/>
        </p:nvSpPr>
        <p:spPr>
          <a:xfrm>
            <a:off x="8165592" y="1783080"/>
            <a:ext cx="32004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Remember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A good API is a product: its contract is promised to every client, so change it carefully.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08 · TOOLING AND WRAP-UP</a:t>
            </a:r>
            <a:endParaRPr lang="en-US" sz="12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5" name="Card text 1"/>
          <p:cNvSpPr txBox="1"/>
          <p:nvPr/>
        </p:nvSpPr>
        <p:spPr>
          <a:xfrm>
            <a:off x="76809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Standards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RFC 9110 HTTP Semantics; RFC 9111 Caching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RFC 3986 URI; RFC 8259 JSON; RFC 3339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RFC 9457 Problem Details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RFC 8288 Web Linking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RFC 5789, 6902, 7396 PATCH formats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RFC 8594 Sunset; RFC 9745 Deprecation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RFC 6749, 6750, 7636 OAuth 2.0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431292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7" name="Card text 2"/>
          <p:cNvSpPr txBox="1"/>
          <p:nvPr/>
        </p:nvSpPr>
        <p:spPr>
          <a:xfrm>
            <a:off x="453237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Guidelines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OpenAPI Specification (spec.openapis.org)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OWASP API Security Top 10 (2023)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Microsoft REST API Guidelines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Google API Design Guide / AIP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Zalando RESTful API Guidelines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JSON:API specification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8077200" y="1508760"/>
            <a:ext cx="3563112" cy="3840480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/>
        </p:spPr>
      </p:sp>
      <p:sp>
        <p:nvSpPr>
          <p:cNvPr id="9" name="Card text 3"/>
          <p:cNvSpPr txBox="1"/>
          <p:nvPr/>
        </p:nvSpPr>
        <p:spPr>
          <a:xfrm>
            <a:off x="8296656" y="1691640"/>
            <a:ext cx="31242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Reading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R. Fielding, Architectural Styles and the Design of Network-based Software Architectures (2000)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M. Fowler, Richardson Maturity Model (2010)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Richardson and Amundsen, RESTful Web APIs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T Ink">
  <a:themeElements>
    <a:clrScheme name="REST Ink">
      <a:dk1>
        <a:srgbClr val="0B1F2A"/>
      </a:dk1>
      <a:lt1>
        <a:srgbClr val="FFFFFF"/>
      </a:lt1>
      <a:dk2>
        <a:srgbClr val="0B6B63"/>
      </a:dk2>
      <a:lt2>
        <a:srgbClr val="EEF3F5"/>
      </a:lt2>
      <a:accent1>
        <a:srgbClr val="0F9D8F"/>
      </a:accent1>
      <a:accent2>
        <a:srgbClr val="F59E0B"/>
      </a:accent2>
      <a:accent3>
        <a:srgbClr val="2563EB"/>
      </a:accent3>
      <a:accent4>
        <a:srgbClr val="7C3AED"/>
      </a:accent4>
      <a:accent5>
        <a:srgbClr val="DC2626"/>
      </a:accent5>
      <a:accent6>
        <a:srgbClr val="15803D"/>
      </a:accent6>
      <a:hlink>
        <a:srgbClr val="2563EB"/>
      </a:hlink>
      <a:folHlink>
        <a:srgbClr val="7C3AED"/>
      </a:folHlink>
    </a:clrScheme>
    <a:fontScheme name="REST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APIs</dc:title>
  <dc:subject>Evolution, constraints, maturity model, HTTP, design and versioning</dc:subject>
  <dc:creator>PptxGenJS</dc:creator>
  <cp:lastModifiedBy>PptxGenJS</cp:lastModifiedBy>
  <cp:revision>1</cp:revision>
  <dcterms:created xsi:type="dcterms:W3CDTF">2026-10-11T17:19:05Z</dcterms:created>
  <dcterms:modified xsi:type="dcterms:W3CDTF">2026-10-11T17:19:05Z</dcterms:modified>
</cp:coreProperties>
</file>